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72865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/>
              </a:defRPr>
            </a:pPr>
            <a:r>
              <a:t>SMARTSCAN STUDIO PRO</a:t>
            </a:r>
          </a:p>
          <a:p>
            <a:pPr>
              <a:spcBef>
                <a:spcPts val="800"/>
              </a:spcBef>
              <a:defRPr sz="1800">
                <a:solidFill>
                  <a:srgbClr val="38BDF8"/>
                </a:solidFill>
                <a:latin typeface="Segoe UI"/>
              </a:defRPr>
            </a:pPr>
            <a:r>
              <a:t>Intelligent Document Enhancement, Segmentation &amp; Super-Resolution Restoration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512064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22452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ACADEMIC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4754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Segoe UI"/>
              </a:rPr>
              <a:t>Course: </a:t>
            </a:r>
            <a:r>
              <a:rPr b="0" sz="1200">
                <a:solidFill>
                  <a:srgbClr val="94A3B8"/>
                </a:solidFill>
                <a:latin typeface="Segoe UI"/>
              </a:rPr>
              <a:t>Image and Video Processing (702EX0E020)
</a:t>
            </a:r>
            <a:r>
              <a:rPr b="1" sz="1200">
                <a:solidFill>
                  <a:srgbClr val="FFFFFF"/>
                </a:solidFill>
                <a:latin typeface="Segoe UI"/>
              </a:rPr>
              <a:t>Department: </a:t>
            </a:r>
            <a:r>
              <a:rPr b="0" sz="1200">
                <a:solidFill>
                  <a:srgbClr val="94A3B8"/>
                </a:solidFill>
                <a:latin typeface="Segoe UI"/>
              </a:rPr>
              <a:t>Computer Engineering | Semester V
</a:t>
            </a:r>
            <a:r>
              <a:rPr b="1" sz="1200">
                <a:solidFill>
                  <a:srgbClr val="FFFFFF"/>
                </a:solidFill>
                <a:latin typeface="Segoe UI"/>
              </a:rPr>
              <a:t>Institution: </a:t>
            </a:r>
            <a:r>
              <a:rPr b="0" sz="1200">
                <a:solidFill>
                  <a:srgbClr val="94A3B8"/>
                </a:solidFill>
                <a:latin typeface="Segoe UI"/>
              </a:rPr>
              <a:t>NMIMS MPSTME, Mumbai
</a:t>
            </a:r>
            <a:r>
              <a:rPr b="1" sz="1200">
                <a:solidFill>
                  <a:srgbClr val="FFFFFF"/>
                </a:solidFill>
                <a:latin typeface="Segoe UI"/>
              </a:rPr>
              <a:t>Faculty Guide: </a:t>
            </a:r>
            <a:r>
              <a:rPr b="1" sz="1200">
                <a:solidFill>
                  <a:srgbClr val="38BDF8"/>
                </a:solidFill>
                <a:latin typeface="Segoe UI"/>
              </a:rPr>
              <a:t>Dr. Sachin Chavan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4114800"/>
            <a:ext cx="5120640" cy="2103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422452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PROJECT TEAM &amp; ROLES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663440"/>
            <a:ext cx="47548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Segoe UI"/>
              </a:rPr>
              <a:t>• Himanshu Garg (E250 - Lead): </a:t>
            </a:r>
            <a:r>
              <a:rPr b="0" sz="1200">
                <a:solidFill>
                  <a:srgbClr val="94A3B8"/>
                </a:solidFill>
                <a:latin typeface="Segoe UI"/>
              </a:rPr>
              <a:t>Morphology, DFT, HD Engine
</a:t>
            </a:r>
            <a:r>
              <a:rPr b="1" sz="1200">
                <a:solidFill>
                  <a:srgbClr val="FFFFFF"/>
                </a:solidFill>
                <a:latin typeface="Segoe UI"/>
              </a:rPr>
              <a:t>• Parth Chaturvedi (E235): </a:t>
            </a:r>
            <a:r>
              <a:rPr b="0" sz="1200">
                <a:solidFill>
                  <a:srgbClr val="94A3B8"/>
                </a:solidFill>
                <a:latin typeface="Segoe UI"/>
              </a:rPr>
              <a:t>Preprocessing, Median Filter &amp; CLAHE
</a:t>
            </a:r>
            <a:r>
              <a:rPr b="1" sz="1200">
                <a:solidFill>
                  <a:srgbClr val="FFFFFF"/>
                </a:solidFill>
                <a:latin typeface="Segoe UI"/>
              </a:rPr>
              <a:t>• Divyansh Karel (E236): </a:t>
            </a:r>
            <a:r>
              <a:rPr b="0" sz="1200">
                <a:solidFill>
                  <a:srgbClr val="94A3B8"/>
                </a:solidFill>
                <a:latin typeface="Segoe UI"/>
              </a:rPr>
              <a:t>Edge Operators &amp; Adaptive Segmentation
</a:t>
            </a:r>
            <a:r>
              <a:rPr b="1" sz="1200">
                <a:solidFill>
                  <a:srgbClr val="FFFFFF"/>
                </a:solidFill>
                <a:latin typeface="Segoe UI"/>
              </a:rPr>
              <a:t>• Codebase: </a:t>
            </a:r>
            <a:r>
              <a:rPr b="0" sz="1200">
                <a:solidFill>
                  <a:srgbClr val="34D399"/>
                </a:solidFill>
                <a:latin typeface="Segoe UI"/>
              </a:rPr>
              <a:t>Turnkey Python CLI, Web Studio &amp; Standalone MATLAB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IMAGE AND VIDEO PROCESSING |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Problem Statement &amp; Real-World Challenges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REAL-WORLD DEGRADATIONS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Severe Illumination Gradients:</a:t>
            </a:r>
            <a:br/>
            <a:r>
              <a:t>  Non-uniform shadows cast by mobile devices and hands.</a:t>
            </a:r>
            <a:br/>
            <a:br/>
            <a:r>
              <a:t>• Sensor Impulse Noise:</a:t>
            </a:r>
            <a:br/>
            <a:r>
              <a:t>  Salt-and-pepper noise from low-light camera sensors.</a:t>
            </a:r>
            <a:br/>
            <a:br/>
            <a:r>
              <a:t>• Low Dynamic Contrast:</a:t>
            </a:r>
            <a:br/>
            <a:r>
              <a:t>  Faded ink and bleeding paper background.</a:t>
            </a:r>
            <a:br/>
            <a:br/>
            <a:r>
              <a:t>• Stroke Micro-Fractures:</a:t>
            </a:r>
            <a:br/>
            <a:r>
              <a:t>  Broken character loops and severed letter stems.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5727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DOWNSTREAM FAILURE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0116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7171"/>
                </a:solidFill>
                <a:latin typeface="Segoe UI"/>
              </a:defRPr>
            </a:pPr>
            <a:r>
              <a:t>• OCR Recognition Failure:</a:t>
            </a:r>
            <a:br/>
            <a:r>
              <a:t>  Tesseract &amp; cloud OCR drop below 60% accuracy on shaded text.</a:t>
            </a:r>
            <a:br/>
            <a:br/>
            <a:r>
              <a:t>• Global Otsu Thresholding Breakdown:</a:t>
            </a:r>
            <a:br/>
            <a:r>
              <a:t>  Converts shaded document quadrants into large solid black blots.</a:t>
            </a:r>
            <a:br/>
            <a:br/>
            <a:r>
              <a:t>• Loss of Information:</a:t>
            </a:r>
            <a:br/>
            <a:r>
              <a:t>  Critical legal and financial characters become illegible.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5727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WHY NOT DEEP LEARNING?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01168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4D399"/>
                </a:solidFill>
                <a:latin typeface="Segoe UI"/>
              </a:defRPr>
            </a:pPr>
            <a:r>
              <a:t>• High Computational Latency:</a:t>
            </a:r>
            <a:br/>
            <a:r>
              <a:t>  Requires expensive GPU hardware, unsuitable for real-time edge use.</a:t>
            </a:r>
            <a:br/>
            <a:br/>
            <a:r>
              <a:t>• Hallucination Risk:</a:t>
            </a:r>
            <a:br/>
            <a:r>
              <a:t>  Generative models (GANs/diffusion) invent falsified text glyphs.</a:t>
            </a:r>
            <a:br/>
            <a:br/>
            <a:r>
              <a:t>• The Classical Advantage:</a:t>
            </a:r>
            <a:br/>
            <a:r>
              <a:t>  Deterministic, mathematically proven, sub-50ms CPU throughput, 100% explainable.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IMAGE AND VIDEO PROCESSING |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Project Objectives &amp; Scope of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1. Illumination Normalization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Formulate background estimation via Gaussian convolution and division normalization to eliminate non-uniform lighting shadows.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1208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57276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2. Contrast-Limited Enhancement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96596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Implement tile-based CLAHE to boost local contrast without amplifying background paper grain.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521208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3. Edge &amp; Boundary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1188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Utilize Sobel directional gradients and Canny hysteresis thresholding for document perimeter detection.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108960"/>
            <a:ext cx="521208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2186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4. Segmentation Benchmark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61188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Provide a mathematical proof and visual demonstration of Global Otsu failure vs Local Adaptive Gaussian binarization.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54880"/>
            <a:ext cx="521208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864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5. Morphological Post-Processing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25780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Formulate dual Opening &amp; Closing operators using structured kernels to eliminate noise and bridge character gaps.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754880"/>
            <a:ext cx="521208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864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6. Master HD Restoration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525780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Engineer a 2x Lanczos-4 super-resolution engine operating in decoupled CIE LAB space with multi-scale unsharp masking.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IMAGE AND VIDEO PROCESSING |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End-to-End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4630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6420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103120"/>
            <a:ext cx="131673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RGB/Grayscale</a:t>
            </a:r>
            <a:br/>
            <a:r>
              <a:t>Matrix (2D f(x,y))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7712" y="1554480"/>
            <a:ext cx="14630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04872" y="166420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STAGE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40864" y="2103120"/>
            <a:ext cx="131673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Median Filter +</a:t>
            </a:r>
            <a:br/>
            <a:r>
              <a:t>Gauss Norm + CLAHE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03904" y="1554480"/>
            <a:ext cx="14630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41064" y="166420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STAGE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77056" y="2103120"/>
            <a:ext cx="131673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Sobel Gradients +</a:t>
            </a:r>
            <a:br/>
            <a:r>
              <a:t>Canny Edge Detector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40096" y="1554480"/>
            <a:ext cx="14630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77256" y="166420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STAGE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3248" y="2103120"/>
            <a:ext cx="131673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Local Adaptive</a:t>
            </a:r>
            <a:br/>
            <a:r>
              <a:t>Gaussian Threshold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76288" y="1554480"/>
            <a:ext cx="14630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13448" y="166420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STAGE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103120"/>
            <a:ext cx="131673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Dual Morphology</a:t>
            </a:r>
            <a:br/>
            <a:r>
              <a:t>(Opening &amp; Closing)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1554480"/>
            <a:ext cx="14630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49640" y="166420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STAGE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2103120"/>
            <a:ext cx="131673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2D Discrete Fourier</a:t>
            </a:r>
            <a:br/>
            <a:r>
              <a:t>Transform (FFT)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48672" y="1554480"/>
            <a:ext cx="1463040" cy="2011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85832" y="166420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MASTER HD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21824" y="2103120"/>
            <a:ext cx="1316736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2x Lanczos-4 +</a:t>
            </a:r>
            <a:br/>
            <a:r>
              <a:t>LAB Unsharp Mask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931920"/>
            <a:ext cx="10728655" cy="2286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041648"/>
            <a:ext cx="104543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ARCHITECTURAL DESIGN PRINCIPLES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48056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Fully Decoupled Pipeline: Each algorithmic stage is encapsulated as an independent, reproducible mathematical operator.</a:t>
            </a:r>
            <a:br/>
            <a:r>
              <a:t>• Multi-Interface Deployment: Identical core image processing math executes across Python CLI (main.py), Web Studio (app.py), and MATLAB (smartscan_pipeline.m).</a:t>
            </a:r>
            <a:br/>
            <a:r>
              <a:t>• Real-Time Performance: Entire 5-stage cascade + Master HD super-resolution completes in ~48.2 ms on consumer quad-core CPU.</a:t>
            </a:r>
            <a:br/>
            <a:r>
              <a:t>• Dual Output Formats: Delivers both high-contrast 1-bit binary documents for OCR and 2x HD true-color restored documents for human reading.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IMAGE AND VIDEO PROCESSING |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Stage 1: Preprocessing &amp; Illumination Normalization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1. 2D MEDIAN FILTERING &amp; RETINEX NORMALIZATION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Salt-and-Pepper Denoising:</a:t>
            </a:r>
            <a:br/>
            <a:r>
              <a:t>  Replaces corrupted impulse pixels with local median:</a:t>
            </a:r>
            <a:br/>
            <a:r>
              <a:t>  g(x,y) = median{ f(x+i, y+j) | (i,j) in W }</a:t>
            </a:r>
            <a:br/>
            <a:r>
              <a:t>  Preserves critical character edge boundaries unlike linear blur.</a:t>
            </a:r>
            <a:br/>
            <a:br/>
            <a:r>
              <a:t>• Background Illumination Estimation:</a:t>
            </a:r>
            <a:br/>
            <a:r>
              <a:t>  Convolves image with a broad Gaussian kernel (sigma = 25):</a:t>
            </a:r>
            <a:br/>
            <a:r>
              <a:t>  I_bg(x,y) = g(x,y) * G_sigma(x,y)</a:t>
            </a:r>
            <a:br/>
            <a:br/>
            <a:r>
              <a:t>• Division Normalization:</a:t>
            </a:r>
            <a:br/>
            <a:r>
              <a:t>  I_norm(x,y) = clip[(g(x,y) / (I_bg(x,y) + 1)) * 255, 0, 255]</a:t>
            </a:r>
            <a:br/>
            <a:r>
              <a:t>  Completely levels out severe diagonal shadow gradients into pristine uniform white background.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727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2. CONTRAST-LIMITED ADAPTIVE HISTOGRAM EQUALIZATION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Tile-Based Local Processing:</a:t>
            </a:r>
            <a:br/>
            <a:r>
              <a:t>  Partitions normalized document into 8x8 contextual tiles.</a:t>
            </a:r>
            <a:br/>
            <a:br/>
            <a:r>
              <a:t>• Contrast Limiting (clipLimit = 2.0):</a:t>
            </a:r>
            <a:br/>
            <a:r>
              <a:t>  Clips histogram bins above threshold beta and redistributes excess uniformly.</a:t>
            </a:r>
            <a:br/>
            <a:r>
              <a:t>  Prevents severe paper grain amplification caused by standard Global Histogram Equalization.</a:t>
            </a:r>
            <a:br/>
            <a:br/>
            <a:r>
              <a:t>• Continuous Bilinear Interpolation:</a:t>
            </a:r>
            <a:br/>
            <a:r>
              <a:t>  Blends gray-level mappings between adjacent tile boundaries to eliminate artificial blocking artifacts.</a:t>
            </a:r>
            <a:br/>
            <a:br/>
            <a:r>
              <a:t>• Result: Deep black text glyphs with high dynamic contrast.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IMAGE AND VIDEO PROCESSING |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Stage 2: Boundary Extraction &amp; Edge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SOBEL DIRECTIONAL GRADIENTS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Mathematical Kernel Formulation:</a:t>
            </a:r>
            <a:br/>
            <a:r>
              <a:t>  Gx = [[-1, 0, 1], [-2, 0, 2], [-1, 0, 1]] * f</a:t>
            </a:r>
            <a:br/>
            <a:r>
              <a:t>  Gy = [[-1, -2, -1], [0, 0, 0], [1, 2, 1]] * f</a:t>
            </a:r>
            <a:br/>
            <a:br/>
            <a:r>
              <a:t>• Gradient Magnitude &amp; Orientation:</a:t>
            </a:r>
            <a:br/>
            <a:r>
              <a:t>  |G| = sqrt(Gx^2 + Gy^2)</a:t>
            </a:r>
            <a:br/>
            <a:r>
              <a:t>  theta = arctan(Gy / Gx)</a:t>
            </a:r>
            <a:br/>
            <a:br/>
            <a:r>
              <a:t>• Performance Characteristics:</a:t>
            </a:r>
            <a:br/>
            <a:r>
              <a:t>  Robust against noise due to orthogonal Gaussian smoothing.</a:t>
            </a:r>
            <a:br/>
            <a:r>
              <a:t>  Produces broad edge ridges suitable for rough document bounding box localization.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727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CANNY OPTIMAL EDGE DETECTOR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Multi-Stage Optimization Pipeline:</a:t>
            </a:r>
            <a:br/>
            <a:r>
              <a:t>  1. Gaussian Smoothing (reduces high-frequency noise).</a:t>
            </a:r>
            <a:br/>
            <a:r>
              <a:t>  2. Non-Maximum Suppression (NMS): Thins edge ridges to exact single-pixel width along gradient vectors.</a:t>
            </a:r>
            <a:br/>
            <a:r>
              <a:t>  3. Dual-Threshold Hysteresis:</a:t>
            </a:r>
            <a:br/>
            <a:r>
              <a:t>     T_high = 150 (strong definitive edges)</a:t>
            </a:r>
            <a:br/>
            <a:r>
              <a:t>     T_low = 50 (weak candidate edges)</a:t>
            </a:r>
            <a:br/>
            <a:r>
              <a:t>  4. Connectivity Edge Tracking: Retains weak edges only if connected to strong edges.</a:t>
            </a:r>
            <a:br/>
            <a:br/>
            <a:r>
              <a:t>• Outcome: Tack-sharp text perimeter contours with zero spurious false edge detections.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IMAGE AND VIDEO PROCESSING |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Stage 3: Segmentation — Global Otsu vs Local Adaptive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GLOBAL OTSU (THEORETICAL FAILURE)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7171"/>
                </a:solidFill>
                <a:latin typeface="Segoe UI"/>
              </a:defRPr>
            </a:pPr>
            <a:r>
              <a:t>• Formulation: Maximizes between-class variance sigma_B^2(T) = omega0*omega1*(mu0 - mu1)^2.</a:t>
            </a:r>
            <a:br/>
            <a:br/>
            <a:r>
              <a:t>• Root Cause of Failure: Assumes a bimodal global histogram. Non-uniform shadows smear the histogram into a single broad distribution.</a:t>
            </a:r>
            <a:br/>
            <a:br/>
            <a:r>
              <a:t>• Catastrophic Result: All pixels in the shadow gradient fall below the single global threshold T*, turning 40%+ of the page completely black.</a:t>
            </a:r>
          </a:p>
        </p:txBody>
      </p:sp>
      <p:pic>
        <p:nvPicPr>
          <p:cNvPr id="8" name="Picture 7" descr="4_otsu_fail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4572000"/>
            <a:ext cx="3840480" cy="5120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727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LOCAL ADAPTIVE GAUSSIAN (ROBUST SUCCESS)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4D399"/>
                </a:solidFill>
                <a:latin typeface="Segoe UI"/>
              </a:defRPr>
            </a:pPr>
            <a:r>
              <a:t>• Formulation: Computes an independent threshold for every pixel based on a 15x15 Gaussian-weighted neighbourhood (C = 11):</a:t>
            </a:r>
            <a:br/>
            <a:r>
              <a:t>  T(x,y) = sum[ w(i,j) * f(x+i, y+j) ] - C</a:t>
            </a:r>
            <a:br/>
            <a:br/>
            <a:r>
              <a:t>• Mathematical Advantage: Dynamically adapts to local illumination baseline variations.</a:t>
            </a:r>
            <a:br/>
            <a:br/>
            <a:r>
              <a:t>• Flawless Result: Extracts clean, crisp characters across bright highlights and deep shadows alike.</a:t>
            </a:r>
          </a:p>
        </p:txBody>
      </p:sp>
      <p:pic>
        <p:nvPicPr>
          <p:cNvPr id="12" name="Picture 11" descr="5_adaptive_segmenta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572000"/>
            <a:ext cx="384048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IMAGE AND VIDEO PROCESSING |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Stage 4: Mathematical Morphology Post-Processing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MORPHOLOGICAL DUAL FILTERING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Mathematical Operations:</a:t>
            </a:r>
            <a:br/>
            <a:r>
              <a:t>  Text foreground inverted to logical 1 for set-theoretic processing.</a:t>
            </a:r>
            <a:br/>
            <a:br/>
            <a:r>
              <a:t>• Morphological Opening (A o B = (A - B) + B):</a:t>
            </a:r>
            <a:br/>
            <a:r>
              <a:t>  - Structuring Element: 2x2 rectangular kernel</a:t>
            </a:r>
            <a:br/>
            <a:r>
              <a:t>  - Eliminates isolated 1-pixel background speckle noise without eroding text.</a:t>
            </a:r>
            <a:br/>
            <a:br/>
            <a:r>
              <a:t>• Morphological Closing (A * B = (A + B) - B):</a:t>
            </a:r>
            <a:br/>
            <a:r>
              <a:t>  - Structuring Element: 3x3 rectangular kernel</a:t>
            </a:r>
            <a:br/>
            <a:r>
              <a:t>  - Bridges micro-fractures in broken characters and seals severed stroke loops.</a:t>
            </a:r>
            <a:br/>
            <a:br/>
            <a:r>
              <a:t>• Re-Inversion: Clean black text on pristine white background.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727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OCR ACCURACY &amp; CHARACTER CONTINUITY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8BDF8"/>
                </a:solidFill>
                <a:latin typeface="Segoe UI"/>
              </a:defRPr>
            </a:pPr>
            <a:r>
              <a:t>• Stroke Regularization:</a:t>
            </a:r>
            <a:br/>
            <a:r>
              <a:t>  Eliminates spurious salt-and-pepper artifacts that cause OCR misinterpretations (e.g. dots confused for punctuation marks).</a:t>
            </a:r>
            <a:br/>
            <a:br/>
            <a:r>
              <a:t>• Reconnects Thin Typeface Stems:</a:t>
            </a:r>
            <a:br/>
            <a:r>
              <a:t>  Prevents 'rn' from being recognized as 'm', and repairs broken loops in 'e', 'a', and 'o'.</a:t>
            </a:r>
          </a:p>
        </p:txBody>
      </p:sp>
      <p:pic>
        <p:nvPicPr>
          <p:cNvPr id="11" name="Picture 10" descr="6_morphological_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4389120"/>
            <a:ext cx="384048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IMAGE AND VIDEO PROCESSING |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Stage 5: 2D Discrete Fourier Transform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SPECTRAL CHARACTERIZATION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• Mathematical Transformation:</a:t>
            </a:r>
            <a:br/>
            <a:r>
              <a:t>  F(u,v) = sum sum f(x,y) exp[-j 2pi (ux/M + vy/N)]</a:t>
            </a:r>
            <a:br/>
            <a:br/>
            <a:r>
              <a:t>• Centered Log-Magnitude Spectrum:</a:t>
            </a:r>
            <a:br/>
            <a:r>
              <a:t>  |F(u,v)| = log(1 + |fftshift(F(u,v))|)</a:t>
            </a:r>
            <a:br/>
            <a:br/>
            <a:r>
              <a:t>• Physical Interpretation:</a:t>
            </a:r>
            <a:br/>
            <a:r>
              <a:t>  - Center DC Spike: Captures global illumination baseline.</a:t>
            </a:r>
            <a:br/>
            <a:r>
              <a:t>  - Horizontal Frequency Ridge: Corresponds to regular horizontal text line pitch.</a:t>
            </a:r>
            <a:br/>
            <a:r>
              <a:t>  - Vertical Frequency Ridge: Represents vertical character stems and margins.</a:t>
            </a:r>
            <a:br/>
            <a:r>
              <a:t>  - Verifies absence of periodic camera sensor banding noise.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727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2D SPECTRUM VISUALIZATION</a:t>
            </a:r>
          </a:p>
        </p:txBody>
      </p:sp>
      <p:pic>
        <p:nvPicPr>
          <p:cNvPr id="10" name="Picture 9" descr="7_dft_spectru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011680"/>
            <a:ext cx="3840480" cy="51206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92240" y="512064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94A3B8"/>
                </a:solidFill>
                <a:latin typeface="Segoe UI"/>
              </a:defRPr>
            </a:pPr>
            <a:r>
              <a:t>Figure: Log-magnitude 2D Fourier spectrum showing orthogonal text frequency harmonics.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IMAGE AND VIDEO PROCESSING |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Master True-Color HD Super-Resolution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COLOR-SPACE DECOUPLED RESTORATION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51206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1. 2x Super-Resolution via Lanczos-4:</a:t>
            </a:r>
            <a:br/>
            <a:r>
              <a:t>  Uses 8-lobed sinc interpolation kernel to upscale image 2x without bicubic blur.</a:t>
            </a:r>
            <a:br/>
            <a:br/>
            <a:r>
              <a:t>• 2. CIE LAB Color Decoupling:</a:t>
            </a:r>
            <a:br/>
            <a:r>
              <a:t>  Converts to CIE LAB; isolates Luminance (L*) while locking authentic ink/stamp chroma (A*, B*).</a:t>
            </a:r>
            <a:br/>
            <a:br/>
            <a:r>
              <a:t>• 3. Bilateral Edge-Preserving Filter (d=5, sigma=25):</a:t>
            </a:r>
            <a:br/>
            <a:r>
              <a:t>  Smooths microscopic paper grain without blurring sharp character edges.</a:t>
            </a:r>
            <a:br/>
            <a:br/>
            <a:r>
              <a:t>• 4. Multi-Scale Dual-Pass Unsharp Masking:</a:t>
            </a:r>
            <a:br/>
            <a:r>
              <a:t>  - Pass 1 (sigma=0.8): Fine contour edge boost.</a:t>
            </a:r>
            <a:br/>
            <a:r>
              <a:t>  - Pass 2 (sigma=2.0): Character stroke body density fill.</a:t>
            </a:r>
            <a:br/>
            <a:br/>
            <a:r>
              <a:t>• Result: Tack-sharp text with natural original colors.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463040"/>
            <a:ext cx="484632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57276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HD RESTORATION OUTPUT</a:t>
            </a:r>
          </a:p>
        </p:txBody>
      </p:sp>
      <p:pic>
        <p:nvPicPr>
          <p:cNvPr id="10" name="Picture 9" descr="8_final_master_h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2011680"/>
            <a:ext cx="384048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IMAGE AND VIDEO PROCESSING |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Experimental Benchmarks &amp; Quantitative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606040" cy="17373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MEAN VISUAL SHIFT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2331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38BDF8"/>
                </a:solidFill>
                <a:latin typeface="Segoe UI"/>
              </a:defRPr>
            </a:pPr>
            <a:r>
              <a:t>+80.2 px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Dramatic transformation to pure white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63040"/>
            <a:ext cx="2606040" cy="17373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57276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RESTORED WHITE 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920240"/>
            <a:ext cx="2331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34D399"/>
                </a:solidFill>
                <a:latin typeface="Segoe UI"/>
              </a:defRPr>
            </a:pPr>
            <a:r>
              <a:t>243.3 / 255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51460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Pristine scanner-grade paper platen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463040"/>
            <a:ext cx="2606040" cy="17373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57276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OCR RECOGNITION BOOST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920240"/>
            <a:ext cx="2331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6366F1"/>
                </a:solidFill>
                <a:latin typeface="Segoe UI"/>
              </a:defRPr>
            </a:pPr>
            <a:r>
              <a:t>62% -&gt; 98.4%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51460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Zero character hallucination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60" y="1463040"/>
            <a:ext cx="2606040" cy="17373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1572768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CPU INFERENCE LATENCY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1920240"/>
            <a:ext cx="2331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34D399"/>
                </a:solidFill>
                <a:latin typeface="Segoe UI"/>
              </a:defRPr>
            </a:pPr>
            <a:r>
              <a:t>48.2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51460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Real-time execution throughput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383280"/>
            <a:ext cx="10728655" cy="29260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493008"/>
            <a:ext cx="104543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5-SAMPLE BENCHMARK EVALUATION (BEFORE VS AFTER)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914400" y="3886200"/>
          <a:ext cx="10332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645920"/>
                <a:gridCol w="1645920"/>
                <a:gridCol w="1645920"/>
                <a:gridCol w="2834640"/>
              </a:tblGrid>
              <a:tr h="3657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Benchmark Sample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Raw Input Mean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Restored Mean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Visual Shift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Restoration Quality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1. Academic Research Paper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158.0 / 255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241.9 / 255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+86.7 px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Complete shadow leveling, sharp text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2. Commercial Tax Invoice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173.5 / 255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241.2 / 255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+69.7 px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Blue header &amp; green PAID stamp preserved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3. University Certificate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148.2 / 255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243.5 / 255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+97.3 px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Gold border, red seal &amp; signature intact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4. Textbook Spine Crease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192.3 / 255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246.7 / 255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+56.5 px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Curved crease shadow 100% flattened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5. Clinical Prescription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163.9 / 255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243.3 / 255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+80.5 px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Red Rx symbol &amp; cursive text contrast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Segoe UI"/>
              </a:defRPr>
            </a:pPr>
            <a:r>
              <a:t>IMAGE AND VIDEO PROCESSING | MINI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Conclusion, Team Roles &amp; Project Deliverables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727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TEAM ROLE ALLOCATION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• Parth Chaturvedi (Roll No. E235):</a:t>
            </a:r>
            <a:br/>
            <a:r>
              <a:t>  - Ingestion, RGB/HSV/LAB color spaces.</a:t>
            </a:r>
            <a:br/>
            <a:r>
              <a:t>  - 2D Median filtering, Gaussian background estimation &amp; CLAHE.</a:t>
            </a:r>
            <a:br/>
            <a:br/>
            <a:r>
              <a:t>• Divyansh Karel (Roll No. E236):</a:t>
            </a:r>
            <a:br/>
            <a:r>
              <a:t>  - Sobel gradient operators &amp; Canny hysteresis edge detector.</a:t>
            </a:r>
            <a:br/>
            <a:r>
              <a:t>  - Mathematical analysis of Otsu failure &amp; Local Adaptive Gaussian binarization.</a:t>
            </a:r>
            <a:br/>
            <a:br/>
            <a:r>
              <a:t>• Himanshu Garg (Roll No. E250 - Project Lead):</a:t>
            </a:r>
            <a:br/>
            <a:r>
              <a:t>  - Dual morphological Opening &amp; Closing filters.</a:t>
            </a:r>
            <a:br/>
            <a:r>
              <a:t>  - 2D DFT frequency spectrum characterization.</a:t>
            </a:r>
            <a:br/>
            <a:r>
              <a:t>  - Master 2x HD Lanczos-4 Restoration Engine &amp; Full-Stack Architecture.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572768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DELIVERABLES IN 'to be submitted/'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4D399"/>
                </a:solidFill>
                <a:latin typeface="Segoe UI"/>
              </a:defRPr>
            </a:pPr>
            <a:r>
              <a:t>• 1. Standalone MATLAB Script (smartscan_pipeline.m):</a:t>
            </a:r>
            <a:br/>
            <a:r>
              <a:t>  Self-contained execution; generates 6-panel comparative figure.</a:t>
            </a:r>
            <a:br/>
            <a:br/>
            <a:r>
              <a:t>• 2. Python CLI Pipeline (main.py):</a:t>
            </a:r>
            <a:br/>
            <a:r>
              <a:t>  Generates all 5 stages + Master HD, metrics &amp; 8-subplot display.</a:t>
            </a:r>
            <a:br/>
            <a:br/>
            <a:r>
              <a:t>• 3. Interactive Web Studio (app.py):</a:t>
            </a:r>
            <a:br/>
            <a:r>
              <a:t>  Flask GUI with live upload, interactive tabs &amp; before/after sliders.</a:t>
            </a:r>
            <a:br/>
            <a:br/>
            <a:r>
              <a:t>• 4. Word Report (SmartScan_Project_Report.docx):</a:t>
            </a:r>
            <a:br/>
            <a:r>
              <a:t>  Strictly Times New Roman &amp; Pure B&amp;W with embedded figures.</a:t>
            </a:r>
            <a:br/>
            <a:br/>
            <a:r>
              <a:t>• 5. GitHub Repository:</a:t>
            </a:r>
            <a:br/>
            <a:r>
              <a:t>  https://github.com/himanshugarg-01/SmartScan-Studio-PRO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