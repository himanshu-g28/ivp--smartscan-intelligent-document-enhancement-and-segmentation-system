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Original</c:v>
                </c:pt>
              </c:strCache>
            </c:strRef>
          </c:tx>
          <c:spPr>
            <a:solidFill>
              <a:srgbClr val="9FB3C8"/>
            </a:solidFill>
            <a:ln w="25400" cap="flat">
              <a:solidFill>
                <a:srgbClr val="9FB3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FB3C8"/>
              </a:solidFill>
              <a:ln w="9525" cap="flat">
                <a:solidFill>
                  <a:srgbClr val="9FB3C8"/>
                </a:solidFill>
                <a:prstDash val="solid"/>
                <a:round/>
              </a:ln>
              <a:effectLst/>
            </c:spPr>
          </c:marker>
          <c:cat>
            <c:multiLvlStrRef>
              <c:f>Sheet1!$A$2:$A$33</c:f>
              <c:multiLvlStrCache>
                <c:ptCount val="32"/>
                <c:lvl>
                  <c:pt idx="0">
                    <c:v>0</c:v>
                  </c:pt>
                  <c:pt idx="1">
                    <c:v>8</c:v>
                  </c:pt>
                  <c:pt idx="2">
                    <c:v>16</c:v>
                  </c:pt>
                  <c:pt idx="3">
                    <c:v>24</c:v>
                  </c:pt>
                  <c:pt idx="4">
                    <c:v>32</c:v>
                  </c:pt>
                  <c:pt idx="5">
                    <c:v>40</c:v>
                  </c:pt>
                  <c:pt idx="6">
                    <c:v>48</c:v>
                  </c:pt>
                  <c:pt idx="7">
                    <c:v>56</c:v>
                  </c:pt>
                  <c:pt idx="8">
                    <c:v>64</c:v>
                  </c:pt>
                  <c:pt idx="9">
                    <c:v>72</c:v>
                  </c:pt>
                  <c:pt idx="10">
                    <c:v>80</c:v>
                  </c:pt>
                  <c:pt idx="11">
                    <c:v>88</c:v>
                  </c:pt>
                  <c:pt idx="12">
                    <c:v>96</c:v>
                  </c:pt>
                  <c:pt idx="13">
                    <c:v>104</c:v>
                  </c:pt>
                  <c:pt idx="14">
                    <c:v>112</c:v>
                  </c:pt>
                  <c:pt idx="15">
                    <c:v>120</c:v>
                  </c:pt>
                  <c:pt idx="16">
                    <c:v>128</c:v>
                  </c:pt>
                  <c:pt idx="17">
                    <c:v>136</c:v>
                  </c:pt>
                  <c:pt idx="18">
                    <c:v>144</c:v>
                  </c:pt>
                  <c:pt idx="19">
                    <c:v>152</c:v>
                  </c:pt>
                  <c:pt idx="20">
                    <c:v>160</c:v>
                  </c:pt>
                  <c:pt idx="21">
                    <c:v>168</c:v>
                  </c:pt>
                  <c:pt idx="22">
                    <c:v>176</c:v>
                  </c:pt>
                  <c:pt idx="23">
                    <c:v>184</c:v>
                  </c:pt>
                  <c:pt idx="24">
                    <c:v>192</c:v>
                  </c:pt>
                  <c:pt idx="25">
                    <c:v>200</c:v>
                  </c:pt>
                  <c:pt idx="26">
                    <c:v>208</c:v>
                  </c:pt>
                  <c:pt idx="27">
                    <c:v>216</c:v>
                  </c:pt>
                  <c:pt idx="28">
                    <c:v>224</c:v>
                  </c:pt>
                  <c:pt idx="29">
                    <c:v>232</c:v>
                  </c:pt>
                  <c:pt idx="30">
                    <c:v>240</c:v>
                  </c:pt>
                  <c:pt idx="31">
                    <c:v>248</c:v>
                  </c:pt>
                </c:lvl>
              </c:multiLvlStrCache>
            </c:multiLvlStrRef>
          </c:cat>
          <c:val>
            <c:numRef>
              <c:f>Sheet1!$B$2:$B$33</c:f>
              <c:numCache>
                <c:formatCode>General</c:formatCode>
                <c:ptCount val="32"/>
                <c:pt idx="0">
                  <c:v>2.71</c:v>
                </c:pt>
                <c:pt idx="1">
                  <c:v>1.14</c:v>
                </c:pt>
                <c:pt idx="2">
                  <c:v>1.78</c:v>
                </c:pt>
                <c:pt idx="3">
                  <c:v>2.18</c:v>
                </c:pt>
                <c:pt idx="4">
                  <c:v>2.15</c:v>
                </c:pt>
                <c:pt idx="5">
                  <c:v>2.14</c:v>
                </c:pt>
                <c:pt idx="6">
                  <c:v>2.17</c:v>
                </c:pt>
                <c:pt idx="7">
                  <c:v>2.16</c:v>
                </c:pt>
                <c:pt idx="8">
                  <c:v>2.11</c:v>
                </c:pt>
                <c:pt idx="9">
                  <c:v>2.09</c:v>
                </c:pt>
                <c:pt idx="10">
                  <c:v>2.06</c:v>
                </c:pt>
                <c:pt idx="11">
                  <c:v>2.18</c:v>
                </c:pt>
                <c:pt idx="12">
                  <c:v>2.12</c:v>
                </c:pt>
                <c:pt idx="13">
                  <c:v>2.27</c:v>
                </c:pt>
                <c:pt idx="14">
                  <c:v>2.57</c:v>
                </c:pt>
                <c:pt idx="15">
                  <c:v>2.63</c:v>
                </c:pt>
                <c:pt idx="16">
                  <c:v>2.9</c:v>
                </c:pt>
                <c:pt idx="17">
                  <c:v>3</c:v>
                </c:pt>
                <c:pt idx="18">
                  <c:v>3.64</c:v>
                </c:pt>
                <c:pt idx="19">
                  <c:v>4.44</c:v>
                </c:pt>
                <c:pt idx="20">
                  <c:v>5.11</c:v>
                </c:pt>
                <c:pt idx="21">
                  <c:v>5.29</c:v>
                </c:pt>
                <c:pt idx="22">
                  <c:v>6</c:v>
                </c:pt>
                <c:pt idx="23">
                  <c:v>5.41</c:v>
                </c:pt>
                <c:pt idx="24">
                  <c:v>5.14</c:v>
                </c:pt>
                <c:pt idx="25">
                  <c:v>4.33</c:v>
                </c:pt>
                <c:pt idx="26">
                  <c:v>4.41</c:v>
                </c:pt>
                <c:pt idx="27">
                  <c:v>4.3</c:v>
                </c:pt>
                <c:pt idx="28">
                  <c:v>3.85</c:v>
                </c:pt>
                <c:pt idx="29">
                  <c:v>2.28</c:v>
                </c:pt>
                <c:pt idx="30">
                  <c:v>1.83</c:v>
                </c:pt>
                <c:pt idx="31">
                  <c:v>3.61</c:v>
                </c:pt>
              </c:numCache>
            </c:numRef>
          </c:val>
          <c:smooth val="0"/>
        </c:ser>
        <c:ser>
          <c:idx val="1"/>
          <c:order val="1"/>
          <c:tx>
            <c:strRef>
              <c:f>Sheet1!$C$1</c:f>
              <c:strCache>
                <c:ptCount val="1"/>
                <c:pt idx="0">
                  <c:v>Global HE</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Sheet1!$A$2:$A$33</c:f>
              <c:multiLvlStrCache>
                <c:ptCount val="32"/>
                <c:lvl>
                  <c:pt idx="0">
                    <c:v>0</c:v>
                  </c:pt>
                  <c:pt idx="1">
                    <c:v>8</c:v>
                  </c:pt>
                  <c:pt idx="2">
                    <c:v>16</c:v>
                  </c:pt>
                  <c:pt idx="3">
                    <c:v>24</c:v>
                  </c:pt>
                  <c:pt idx="4">
                    <c:v>32</c:v>
                  </c:pt>
                  <c:pt idx="5">
                    <c:v>40</c:v>
                  </c:pt>
                  <c:pt idx="6">
                    <c:v>48</c:v>
                  </c:pt>
                  <c:pt idx="7">
                    <c:v>56</c:v>
                  </c:pt>
                  <c:pt idx="8">
                    <c:v>64</c:v>
                  </c:pt>
                  <c:pt idx="9">
                    <c:v>72</c:v>
                  </c:pt>
                  <c:pt idx="10">
                    <c:v>80</c:v>
                  </c:pt>
                  <c:pt idx="11">
                    <c:v>88</c:v>
                  </c:pt>
                  <c:pt idx="12">
                    <c:v>96</c:v>
                  </c:pt>
                  <c:pt idx="13">
                    <c:v>104</c:v>
                  </c:pt>
                  <c:pt idx="14">
                    <c:v>112</c:v>
                  </c:pt>
                  <c:pt idx="15">
                    <c:v>120</c:v>
                  </c:pt>
                  <c:pt idx="16">
                    <c:v>128</c:v>
                  </c:pt>
                  <c:pt idx="17">
                    <c:v>136</c:v>
                  </c:pt>
                  <c:pt idx="18">
                    <c:v>144</c:v>
                  </c:pt>
                  <c:pt idx="19">
                    <c:v>152</c:v>
                  </c:pt>
                  <c:pt idx="20">
                    <c:v>160</c:v>
                  </c:pt>
                  <c:pt idx="21">
                    <c:v>168</c:v>
                  </c:pt>
                  <c:pt idx="22">
                    <c:v>176</c:v>
                  </c:pt>
                  <c:pt idx="23">
                    <c:v>184</c:v>
                  </c:pt>
                  <c:pt idx="24">
                    <c:v>192</c:v>
                  </c:pt>
                  <c:pt idx="25">
                    <c:v>200</c:v>
                  </c:pt>
                  <c:pt idx="26">
                    <c:v>208</c:v>
                  </c:pt>
                  <c:pt idx="27">
                    <c:v>216</c:v>
                  </c:pt>
                  <c:pt idx="28">
                    <c:v>224</c:v>
                  </c:pt>
                  <c:pt idx="29">
                    <c:v>232</c:v>
                  </c:pt>
                  <c:pt idx="30">
                    <c:v>240</c:v>
                  </c:pt>
                  <c:pt idx="31">
                    <c:v>248</c:v>
                  </c:pt>
                </c:lvl>
              </c:multiLvlStrCache>
            </c:multiLvlStrRef>
          </c:cat>
          <c:val>
            <c:numRef>
              <c:f>Sheet1!$C$2:$C$33</c:f>
              <c:numCache>
                <c:formatCode>General</c:formatCode>
                <c:ptCount val="32"/>
                <c:pt idx="0">
                  <c:v>4.13</c:v>
                </c:pt>
                <c:pt idx="1">
                  <c:v>3.08</c:v>
                </c:pt>
                <c:pt idx="2">
                  <c:v>3.11</c:v>
                </c:pt>
                <c:pt idx="3">
                  <c:v>3.03</c:v>
                </c:pt>
                <c:pt idx="4">
                  <c:v>3.16</c:v>
                </c:pt>
                <c:pt idx="5">
                  <c:v>3.07</c:v>
                </c:pt>
                <c:pt idx="6">
                  <c:v>3.09</c:v>
                </c:pt>
                <c:pt idx="7">
                  <c:v>3.11</c:v>
                </c:pt>
                <c:pt idx="8">
                  <c:v>3.06</c:v>
                </c:pt>
                <c:pt idx="9">
                  <c:v>3.05</c:v>
                </c:pt>
                <c:pt idx="10">
                  <c:v>3.11</c:v>
                </c:pt>
                <c:pt idx="11">
                  <c:v>3.08</c:v>
                </c:pt>
                <c:pt idx="12">
                  <c:v>2.98</c:v>
                </c:pt>
                <c:pt idx="13">
                  <c:v>3.04</c:v>
                </c:pt>
                <c:pt idx="14">
                  <c:v>3.07</c:v>
                </c:pt>
                <c:pt idx="15">
                  <c:v>3.06</c:v>
                </c:pt>
                <c:pt idx="16">
                  <c:v>3.18</c:v>
                </c:pt>
                <c:pt idx="17">
                  <c:v>3.02</c:v>
                </c:pt>
                <c:pt idx="18">
                  <c:v>2.95</c:v>
                </c:pt>
                <c:pt idx="19">
                  <c:v>3.37</c:v>
                </c:pt>
                <c:pt idx="20">
                  <c:v>3.1</c:v>
                </c:pt>
                <c:pt idx="21">
                  <c:v>3.11</c:v>
                </c:pt>
                <c:pt idx="22">
                  <c:v>3.06</c:v>
                </c:pt>
                <c:pt idx="23">
                  <c:v>3.18</c:v>
                </c:pt>
                <c:pt idx="24">
                  <c:v>3.05</c:v>
                </c:pt>
                <c:pt idx="25">
                  <c:v>3.08</c:v>
                </c:pt>
                <c:pt idx="26">
                  <c:v>3.01</c:v>
                </c:pt>
                <c:pt idx="27">
                  <c:v>3.37</c:v>
                </c:pt>
                <c:pt idx="28">
                  <c:v>2.88</c:v>
                </c:pt>
                <c:pt idx="29">
                  <c:v>3.28</c:v>
                </c:pt>
                <c:pt idx="30">
                  <c:v>3.01</c:v>
                </c:pt>
                <c:pt idx="31">
                  <c:v>3.12</c:v>
                </c:pt>
              </c:numCache>
            </c:numRef>
          </c:val>
          <c:smooth val="0"/>
        </c:ser>
        <c:ser>
          <c:idx val="2"/>
          <c:order val="2"/>
          <c:tx>
            <c:strRef>
              <c:f>Sheet1!$D$1</c:f>
              <c:strCache>
                <c:ptCount val="1"/>
                <c:pt idx="0">
                  <c:v>CLAHE</c:v>
                </c:pt>
              </c:strCache>
            </c:strRef>
          </c:tx>
          <c:spPr>
            <a:solidFill>
              <a:srgbClr val="06B6D4"/>
            </a:solidFill>
            <a:ln w="25400" cap="flat">
              <a:solidFill>
                <a:srgbClr val="06B6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6B6D4"/>
              </a:solidFill>
              <a:ln w="9525" cap="flat">
                <a:solidFill>
                  <a:srgbClr val="06B6D4"/>
                </a:solidFill>
                <a:prstDash val="solid"/>
                <a:round/>
              </a:ln>
              <a:effectLst/>
            </c:spPr>
          </c:marker>
          <c:cat>
            <c:multiLvlStrRef>
              <c:f>Sheet1!$A$2:$A$33</c:f>
              <c:multiLvlStrCache>
                <c:ptCount val="32"/>
                <c:lvl>
                  <c:pt idx="0">
                    <c:v>0</c:v>
                  </c:pt>
                  <c:pt idx="1">
                    <c:v>8</c:v>
                  </c:pt>
                  <c:pt idx="2">
                    <c:v>16</c:v>
                  </c:pt>
                  <c:pt idx="3">
                    <c:v>24</c:v>
                  </c:pt>
                  <c:pt idx="4">
                    <c:v>32</c:v>
                  </c:pt>
                  <c:pt idx="5">
                    <c:v>40</c:v>
                  </c:pt>
                  <c:pt idx="6">
                    <c:v>48</c:v>
                  </c:pt>
                  <c:pt idx="7">
                    <c:v>56</c:v>
                  </c:pt>
                  <c:pt idx="8">
                    <c:v>64</c:v>
                  </c:pt>
                  <c:pt idx="9">
                    <c:v>72</c:v>
                  </c:pt>
                  <c:pt idx="10">
                    <c:v>80</c:v>
                  </c:pt>
                  <c:pt idx="11">
                    <c:v>88</c:v>
                  </c:pt>
                  <c:pt idx="12">
                    <c:v>96</c:v>
                  </c:pt>
                  <c:pt idx="13">
                    <c:v>104</c:v>
                  </c:pt>
                  <c:pt idx="14">
                    <c:v>112</c:v>
                  </c:pt>
                  <c:pt idx="15">
                    <c:v>120</c:v>
                  </c:pt>
                  <c:pt idx="16">
                    <c:v>128</c:v>
                  </c:pt>
                  <c:pt idx="17">
                    <c:v>136</c:v>
                  </c:pt>
                  <c:pt idx="18">
                    <c:v>144</c:v>
                  </c:pt>
                  <c:pt idx="19">
                    <c:v>152</c:v>
                  </c:pt>
                  <c:pt idx="20">
                    <c:v>160</c:v>
                  </c:pt>
                  <c:pt idx="21">
                    <c:v>168</c:v>
                  </c:pt>
                  <c:pt idx="22">
                    <c:v>176</c:v>
                  </c:pt>
                  <c:pt idx="23">
                    <c:v>184</c:v>
                  </c:pt>
                  <c:pt idx="24">
                    <c:v>192</c:v>
                  </c:pt>
                  <c:pt idx="25">
                    <c:v>200</c:v>
                  </c:pt>
                  <c:pt idx="26">
                    <c:v>208</c:v>
                  </c:pt>
                  <c:pt idx="27">
                    <c:v>216</c:v>
                  </c:pt>
                  <c:pt idx="28">
                    <c:v>224</c:v>
                  </c:pt>
                  <c:pt idx="29">
                    <c:v>232</c:v>
                  </c:pt>
                  <c:pt idx="30">
                    <c:v>240</c:v>
                  </c:pt>
                  <c:pt idx="31">
                    <c:v>248</c:v>
                  </c:pt>
                </c:lvl>
              </c:multiLvlStrCache>
            </c:multiLvlStrRef>
          </c:cat>
          <c:val>
            <c:numRef>
              <c:f>Sheet1!$D$2:$D$33</c:f>
              <c:numCache>
                <c:formatCode>General</c:formatCode>
                <c:ptCount val="32"/>
                <c:pt idx="0">
                  <c:v>3.03</c:v>
                </c:pt>
                <c:pt idx="1">
                  <c:v>2.78</c:v>
                </c:pt>
                <c:pt idx="2">
                  <c:v>2.85</c:v>
                </c:pt>
                <c:pt idx="3">
                  <c:v>2.88</c:v>
                </c:pt>
                <c:pt idx="4">
                  <c:v>2.89</c:v>
                </c:pt>
                <c:pt idx="5">
                  <c:v>2.89</c:v>
                </c:pt>
                <c:pt idx="6">
                  <c:v>2.88</c:v>
                </c:pt>
                <c:pt idx="7">
                  <c:v>2.86</c:v>
                </c:pt>
                <c:pt idx="8">
                  <c:v>2.87</c:v>
                </c:pt>
                <c:pt idx="9">
                  <c:v>2.82</c:v>
                </c:pt>
                <c:pt idx="10">
                  <c:v>2.89</c:v>
                </c:pt>
                <c:pt idx="11">
                  <c:v>2.89</c:v>
                </c:pt>
                <c:pt idx="12">
                  <c:v>2.93</c:v>
                </c:pt>
                <c:pt idx="13">
                  <c:v>2.97</c:v>
                </c:pt>
                <c:pt idx="14">
                  <c:v>3.01</c:v>
                </c:pt>
                <c:pt idx="15">
                  <c:v>3.14</c:v>
                </c:pt>
                <c:pt idx="16">
                  <c:v>3.17</c:v>
                </c:pt>
                <c:pt idx="17">
                  <c:v>3.23</c:v>
                </c:pt>
                <c:pt idx="18">
                  <c:v>3.34</c:v>
                </c:pt>
                <c:pt idx="19">
                  <c:v>3.46</c:v>
                </c:pt>
                <c:pt idx="20">
                  <c:v>3.43</c:v>
                </c:pt>
                <c:pt idx="21">
                  <c:v>3.43</c:v>
                </c:pt>
                <c:pt idx="22">
                  <c:v>3.33</c:v>
                </c:pt>
                <c:pt idx="23">
                  <c:v>3.34</c:v>
                </c:pt>
                <c:pt idx="24">
                  <c:v>3.26</c:v>
                </c:pt>
                <c:pt idx="25">
                  <c:v>3.58</c:v>
                </c:pt>
                <c:pt idx="26">
                  <c:v>3.54</c:v>
                </c:pt>
                <c:pt idx="27">
                  <c:v>3.21</c:v>
                </c:pt>
                <c:pt idx="28">
                  <c:v>3.62</c:v>
                </c:pt>
                <c:pt idx="29">
                  <c:v>2.91</c:v>
                </c:pt>
                <c:pt idx="30">
                  <c:v>2.81</c:v>
                </c:pt>
                <c:pt idx="31">
                  <c:v>3.75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9FB3C8"/>
                    </a:solidFill>
                    <a:latin typeface="Arial"/>
                  </a:defRPr>
                </a:pPr>
                <a:r>
                  <a:rPr sz="900" b="0" i="0" u="none" strike="noStrike">
                    <a:solidFill>
                      <a:srgbClr val="9FB3C8"/>
                    </a:solidFill>
                    <a:latin typeface="Arial"/>
                  </a:rPr>
                  <a:t>gray level (32 bins)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FB3C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632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FB3C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FFFFF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0A0E1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40080"/>
            <a:ext cx="73152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IMAGE &amp; VIDEO PROCESSING · 702EX0E020 · SEMESTER V</a:t>
            </a:r>
            <a:endParaRPr lang="en-US" sz="1200" dirty="0"/>
          </a:p>
        </p:txBody>
      </p:sp>
      <p:sp>
        <p:nvSpPr>
          <p:cNvPr id="3" name="Text 1"/>
          <p:cNvSpPr txBox="1"/>
          <p:nvPr/>
        </p:nvSpPr>
        <p:spPr>
          <a:xfrm>
            <a:off x="640080" y="1188720"/>
            <a:ext cx="6583680" cy="914400"/>
          </a:xfrm>
          <a:prstGeom prst="rect">
            <a:avLst/>
          </a:prstGeom>
          <a:noFill/>
          <a:ln/>
        </p:spPr>
        <p:txBody>
          <a:bodyPr wrap="square" lIns="0" tIns="0" rIns="0" bIns="0" rtlCol="0" anchor="ctr"/>
          <a:lstStyle/>
          <a:p>
            <a:pPr indent="0" marL="0">
              <a:buNone/>
            </a:pPr>
            <a:r>
              <a:rPr lang="en-US" sz="4400" b="1" dirty="0">
                <a:solidFill>
                  <a:srgbClr val="06B6D4"/>
                </a:solidFill>
                <a:latin typeface="Cambria" pitchFamily="34" charset="0"/>
                <a:ea typeface="Cambria" pitchFamily="34" charset="-122"/>
                <a:cs typeface="Cambria" pitchFamily="34" charset="-120"/>
              </a:rPr>
              <a:t>SmartScan Studio PRO</a:t>
            </a:r>
            <a:endParaRPr lang="en-US" sz="4400" dirty="0"/>
          </a:p>
        </p:txBody>
      </p:sp>
      <p:sp>
        <p:nvSpPr>
          <p:cNvPr id="4" name="Text 2"/>
          <p:cNvSpPr txBox="1"/>
          <p:nvPr/>
        </p:nvSpPr>
        <p:spPr>
          <a:xfrm>
            <a:off x="640080" y="2194560"/>
            <a:ext cx="6217920" cy="109728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Cleaning up damaged document scans with classical image processing, step by step</a:t>
            </a:r>
            <a:endParaRPr lang="en-US" sz="2200" dirty="0"/>
          </a:p>
        </p:txBody>
      </p:sp>
      <p:sp>
        <p:nvSpPr>
          <p:cNvPr id="5" name="Text 3"/>
          <p:cNvSpPr txBox="1"/>
          <p:nvPr/>
        </p:nvSpPr>
        <p:spPr>
          <a:xfrm>
            <a:off x="640080" y="4206240"/>
            <a:ext cx="6400800" cy="1280160"/>
          </a:xfrm>
          <a:prstGeom prst="rect">
            <a:avLst/>
          </a:prstGeom>
          <a:noFill/>
          <a:ln/>
        </p:spPr>
        <p:txBody>
          <a:bodyPr wrap="square" lIns="0" tIns="0" rIns="0" bIns="0" rtlCol="0" anchor="t"/>
          <a:lstStyle/>
          <a:p>
            <a:pPr indent="0" marL="0">
              <a:spcAft>
                <a:spcPts val="600"/>
              </a:spcAft>
              <a:buNone/>
            </a:pPr>
            <a:r>
              <a:rPr lang="en-US" sz="1400" dirty="0">
                <a:solidFill>
                  <a:srgbClr val="9FB3C8"/>
                </a:solidFill>
                <a:latin typeface="Calibri" pitchFamily="34" charset="0"/>
                <a:ea typeface="Calibri" pitchFamily="34" charset="-122"/>
                <a:cs typeface="Calibri" pitchFamily="34" charset="-120"/>
              </a:rPr>
              <a:t>Parth Chaturvedi (E235) · Divyansh Karel (E236) · Himanshu Garg (E250)</a:t>
            </a:r>
            <a:endParaRPr lang="en-US" sz="1400" dirty="0"/>
          </a:p>
          <a:p>
            <a:pPr indent="0" marL="0">
              <a:spcAft>
                <a:spcPts val="600"/>
              </a:spcAft>
              <a:buNone/>
            </a:pPr>
            <a:r>
              <a:rPr lang="en-US" sz="1400" dirty="0">
                <a:solidFill>
                  <a:srgbClr val="9FB3C8"/>
                </a:solidFill>
                <a:latin typeface="Calibri" pitchFamily="34" charset="0"/>
                <a:ea typeface="Calibri" pitchFamily="34" charset="-122"/>
                <a:cs typeface="Calibri" pitchFamily="34" charset="-120"/>
              </a:rPr>
              <a:t>MPSTME, NMIMS University</a:t>
            </a:r>
            <a:endParaRPr lang="en-US" sz="1400" dirty="0"/>
          </a:p>
          <a:p>
            <a:pPr indent="0" marL="0">
              <a:spcAft>
                <a:spcPts val="600"/>
              </a:spcAft>
              <a:buNone/>
            </a:pPr>
            <a:r>
              <a:rPr lang="en-US" sz="1400" dirty="0">
                <a:solidFill>
                  <a:srgbClr val="06B6D4"/>
                </a:solidFill>
                <a:latin typeface="Calibri" pitchFamily="34" charset="0"/>
                <a:ea typeface="Calibri" pitchFamily="34" charset="-122"/>
                <a:cs typeface="Calibri" pitchFamily="34" charset="-120"/>
              </a:rPr>
              <a:t>https://github.com/Himanshugarg2401/SmartScan-IVP-Studio</a:t>
            </a:r>
            <a:endParaRPr lang="en-US" sz="1400" dirty="0"/>
          </a:p>
        </p:txBody>
      </p:sp>
      <p:pic>
        <p:nvPicPr>
          <p:cNvPr id="6" name="Image 0" descr="crop/full_grayscale.jpg">    </p:cNvPr>
          <p:cNvPicPr>
            <a:picLocks noChangeAspect="1"/>
          </p:cNvPicPr>
          <p:nvPr/>
        </p:nvPicPr>
        <p:blipFill>
          <a:blip r:embed="rId1"/>
          <a:stretch>
            <a:fillRect/>
          </a:stretch>
        </p:blipFill>
        <p:spPr>
          <a:xfrm>
            <a:off x="7315200" y="731520"/>
            <a:ext cx="2148840" cy="3383280"/>
          </a:xfrm>
          <a:prstGeom prst="rect">
            <a:avLst/>
          </a:prstGeom>
        </p:spPr>
      </p:pic>
      <p:pic>
        <p:nvPicPr>
          <p:cNvPr id="7" name="Image 1" descr="crop/full_final_hd.jpg">    </p:cNvPr>
          <p:cNvPicPr>
            <a:picLocks noChangeAspect="1"/>
          </p:cNvPicPr>
          <p:nvPr/>
        </p:nvPicPr>
        <p:blipFill>
          <a:blip r:embed="rId2"/>
          <a:stretch>
            <a:fillRect/>
          </a:stretch>
        </p:blipFill>
        <p:spPr>
          <a:xfrm>
            <a:off x="9601200" y="731520"/>
            <a:ext cx="2148840" cy="3383280"/>
          </a:xfrm>
          <a:prstGeom prst="rect">
            <a:avLst/>
          </a:prstGeom>
        </p:spPr>
      </p:pic>
      <p:sp>
        <p:nvSpPr>
          <p:cNvPr id="8" name="Text 4"/>
          <p:cNvSpPr txBox="1"/>
          <p:nvPr/>
        </p:nvSpPr>
        <p:spPr>
          <a:xfrm>
            <a:off x="7315200" y="4206240"/>
            <a:ext cx="21488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Input scan</a:t>
            </a:r>
            <a:endParaRPr lang="en-US" sz="1200" dirty="0"/>
          </a:p>
        </p:txBody>
      </p:sp>
      <p:sp>
        <p:nvSpPr>
          <p:cNvPr id="9" name="Text 5"/>
          <p:cNvSpPr txBox="1"/>
          <p:nvPr/>
        </p:nvSpPr>
        <p:spPr>
          <a:xfrm>
            <a:off x="9601200" y="4206240"/>
            <a:ext cx="2148840" cy="274320"/>
          </a:xfrm>
          <a:prstGeom prst="rect">
            <a:avLst/>
          </a:prstGeom>
          <a:noFill/>
          <a:ln/>
        </p:spPr>
        <p:txBody>
          <a:bodyPr wrap="square" lIns="0" tIns="0" rIns="0" bIns="0"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Restored output (2×)</a:t>
            </a:r>
            <a:endParaRPr lang="en-US" sz="12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is wrong with this scan?</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Three separate defects, each needing a different tool</a:t>
            </a:r>
            <a:endParaRPr lang="en-US" sz="1600" dirty="0"/>
          </a:p>
        </p:txBody>
      </p:sp>
      <p:pic>
        <p:nvPicPr>
          <p:cNvPr id="5" name="Image 0" descr="crop/original_color.jpg">    </p:cNvPr>
          <p:cNvPicPr>
            <a:picLocks noChangeAspect="1"/>
          </p:cNvPicPr>
          <p:nvPr/>
        </p:nvPicPr>
        <p:blipFill>
          <a:blip r:embed="rId1"/>
          <a:stretch>
            <a:fillRect/>
          </a:stretch>
        </p:blipFill>
        <p:spPr>
          <a:xfrm>
            <a:off x="548640" y="1691640"/>
            <a:ext cx="5669280" cy="3017520"/>
          </a:xfrm>
          <a:prstGeom prst="rect">
            <a:avLst/>
          </a:prstGeom>
        </p:spPr>
      </p:pic>
      <p:sp>
        <p:nvSpPr>
          <p:cNvPr id="6" name="Text 3"/>
          <p:cNvSpPr txBox="1"/>
          <p:nvPr/>
        </p:nvSpPr>
        <p:spPr>
          <a:xfrm>
            <a:off x="548640" y="4800600"/>
            <a:ext cx="5669280" cy="27432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Same crop of the test scan used throughout this deck</a:t>
            </a:r>
            <a:endParaRPr lang="en-US" sz="1100" dirty="0"/>
          </a:p>
        </p:txBody>
      </p:sp>
      <p:sp>
        <p:nvSpPr>
          <p:cNvPr id="7" name="Shape 4"/>
          <p:cNvSpPr/>
          <p:nvPr/>
        </p:nvSpPr>
        <p:spPr>
          <a:xfrm>
            <a:off x="6583680" y="1691640"/>
            <a:ext cx="5074920" cy="1325880"/>
          </a:xfrm>
          <a:prstGeom prst="roundRect">
            <a:avLst>
              <a:gd name="adj" fmla="val 6897"/>
            </a:avLst>
          </a:prstGeom>
          <a:solidFill>
            <a:srgbClr val="121A2B"/>
          </a:solidFill>
          <a:ln w="12700">
            <a:solidFill>
              <a:srgbClr val="121A2B"/>
            </a:solidFill>
            <a:prstDash val="solid"/>
          </a:ln>
        </p:spPr>
      </p:sp>
      <p:sp>
        <p:nvSpPr>
          <p:cNvPr id="8" name="Shape 5"/>
          <p:cNvSpPr/>
          <p:nvPr/>
        </p:nvSpPr>
        <p:spPr>
          <a:xfrm>
            <a:off x="6766560" y="2057400"/>
            <a:ext cx="548640" cy="548640"/>
          </a:xfrm>
          <a:prstGeom prst="ellipse">
            <a:avLst/>
          </a:prstGeom>
          <a:solidFill>
            <a:srgbClr val="F59E0B"/>
          </a:solidFill>
          <a:ln w="12700">
            <a:solidFill>
              <a:srgbClr val="F59E0B"/>
            </a:solidFill>
            <a:prstDash val="solid"/>
          </a:ln>
        </p:spPr>
      </p:sp>
      <p:sp>
        <p:nvSpPr>
          <p:cNvPr id="9" name="Text 6"/>
          <p:cNvSpPr txBox="1"/>
          <p:nvPr/>
        </p:nvSpPr>
        <p:spPr>
          <a:xfrm>
            <a:off x="6766560" y="2057400"/>
            <a:ext cx="548640" cy="548640"/>
          </a:xfrm>
          <a:prstGeom prst="rect">
            <a:avLst/>
          </a:prstGeom>
          <a:noFill/>
          <a:ln/>
        </p:spPr>
        <p:txBody>
          <a:bodyPr wrap="square" lIns="0" tIns="0" rIns="0" bIns="0" rtlCol="0" anchor="ctr"/>
          <a:lstStyle/>
          <a:p>
            <a:pPr algn="ctr" indent="0" marL="0">
              <a:buNone/>
            </a:pPr>
            <a:r>
              <a:rPr lang="en-US" sz="2000" b="1" dirty="0">
                <a:solidFill>
                  <a:srgbClr val="0A0E17"/>
                </a:solidFill>
                <a:latin typeface="Calibri" pitchFamily="34" charset="0"/>
                <a:ea typeface="Calibri" pitchFamily="34" charset="-122"/>
                <a:cs typeface="Calibri" pitchFamily="34" charset="-120"/>
              </a:rPr>
              <a:t>1</a:t>
            </a:r>
            <a:endParaRPr lang="en-US" sz="2000" dirty="0"/>
          </a:p>
        </p:txBody>
      </p:sp>
      <p:sp>
        <p:nvSpPr>
          <p:cNvPr id="10" name="Text 7"/>
          <p:cNvSpPr txBox="1"/>
          <p:nvPr/>
        </p:nvSpPr>
        <p:spPr>
          <a:xfrm>
            <a:off x="7498080" y="1801368"/>
            <a:ext cx="4023360" cy="320040"/>
          </a:xfrm>
          <a:prstGeom prst="rect">
            <a:avLst/>
          </a:prstGeom>
          <a:noFill/>
          <a:ln/>
        </p:spPr>
        <p:txBody>
          <a:bodyPr wrap="square" lIns="0" tIns="0" rIns="0" bIns="0" rtlCol="0" anchor="ctr"/>
          <a:lstStyle/>
          <a:p>
            <a:pPr indent="0" marL="0">
              <a:buNone/>
            </a:pPr>
            <a:r>
              <a:rPr lang="en-US" sz="1600" b="1" dirty="0">
                <a:solidFill>
                  <a:srgbClr val="06B6D4"/>
                </a:solidFill>
                <a:latin typeface="Calibri" pitchFamily="34" charset="0"/>
                <a:ea typeface="Calibri" pitchFamily="34" charset="-122"/>
                <a:cs typeface="Calibri" pitchFamily="34" charset="-120"/>
              </a:rPr>
              <a:t>Salt-and-pepper noise</a:t>
            </a:r>
            <a:endParaRPr lang="en-US" sz="1600" dirty="0"/>
          </a:p>
        </p:txBody>
      </p:sp>
      <p:sp>
        <p:nvSpPr>
          <p:cNvPr id="11" name="Text 8"/>
          <p:cNvSpPr txBox="1"/>
          <p:nvPr/>
        </p:nvSpPr>
        <p:spPr>
          <a:xfrm>
            <a:off x="7498080" y="2148840"/>
            <a:ext cx="402336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Random black and white specks from the sensor or paper. They sit on top of the letters and break strokes apart.</a:t>
            </a:r>
            <a:endParaRPr lang="en-US" sz="1300" dirty="0"/>
          </a:p>
        </p:txBody>
      </p:sp>
      <p:sp>
        <p:nvSpPr>
          <p:cNvPr id="12" name="Shape 9"/>
          <p:cNvSpPr/>
          <p:nvPr/>
        </p:nvSpPr>
        <p:spPr>
          <a:xfrm>
            <a:off x="6583680" y="3154680"/>
            <a:ext cx="5074920" cy="1325880"/>
          </a:xfrm>
          <a:prstGeom prst="roundRect">
            <a:avLst>
              <a:gd name="adj" fmla="val 6897"/>
            </a:avLst>
          </a:prstGeom>
          <a:solidFill>
            <a:srgbClr val="121A2B"/>
          </a:solidFill>
          <a:ln w="12700">
            <a:solidFill>
              <a:srgbClr val="121A2B"/>
            </a:solidFill>
            <a:prstDash val="solid"/>
          </a:ln>
        </p:spPr>
      </p:sp>
      <p:sp>
        <p:nvSpPr>
          <p:cNvPr id="13" name="Shape 10"/>
          <p:cNvSpPr/>
          <p:nvPr/>
        </p:nvSpPr>
        <p:spPr>
          <a:xfrm>
            <a:off x="6766560" y="3520440"/>
            <a:ext cx="548640" cy="548640"/>
          </a:xfrm>
          <a:prstGeom prst="ellipse">
            <a:avLst/>
          </a:prstGeom>
          <a:solidFill>
            <a:srgbClr val="F59E0B"/>
          </a:solidFill>
          <a:ln w="12700">
            <a:solidFill>
              <a:srgbClr val="F59E0B"/>
            </a:solidFill>
            <a:prstDash val="solid"/>
          </a:ln>
        </p:spPr>
      </p:sp>
      <p:sp>
        <p:nvSpPr>
          <p:cNvPr id="14" name="Text 11"/>
          <p:cNvSpPr txBox="1"/>
          <p:nvPr/>
        </p:nvSpPr>
        <p:spPr>
          <a:xfrm>
            <a:off x="6766560" y="3520440"/>
            <a:ext cx="548640" cy="548640"/>
          </a:xfrm>
          <a:prstGeom prst="rect">
            <a:avLst/>
          </a:prstGeom>
          <a:noFill/>
          <a:ln/>
        </p:spPr>
        <p:txBody>
          <a:bodyPr wrap="square" lIns="0" tIns="0" rIns="0" bIns="0" rtlCol="0" anchor="ctr"/>
          <a:lstStyle/>
          <a:p>
            <a:pPr algn="ctr" indent="0" marL="0">
              <a:buNone/>
            </a:pPr>
            <a:r>
              <a:rPr lang="en-US" sz="2000" b="1" dirty="0">
                <a:solidFill>
                  <a:srgbClr val="0A0E17"/>
                </a:solidFill>
                <a:latin typeface="Calibri" pitchFamily="34" charset="0"/>
                <a:ea typeface="Calibri" pitchFamily="34" charset="-122"/>
                <a:cs typeface="Calibri" pitchFamily="34" charset="-120"/>
              </a:rPr>
              <a:t>2</a:t>
            </a:r>
            <a:endParaRPr lang="en-US" sz="2000" dirty="0"/>
          </a:p>
        </p:txBody>
      </p:sp>
      <p:sp>
        <p:nvSpPr>
          <p:cNvPr id="15" name="Text 12"/>
          <p:cNvSpPr txBox="1"/>
          <p:nvPr/>
        </p:nvSpPr>
        <p:spPr>
          <a:xfrm>
            <a:off x="7498080" y="3264408"/>
            <a:ext cx="4023360" cy="320040"/>
          </a:xfrm>
          <a:prstGeom prst="rect">
            <a:avLst/>
          </a:prstGeom>
          <a:noFill/>
          <a:ln/>
        </p:spPr>
        <p:txBody>
          <a:bodyPr wrap="square" lIns="0" tIns="0" rIns="0" bIns="0" rtlCol="0" anchor="ctr"/>
          <a:lstStyle/>
          <a:p>
            <a:pPr indent="0" marL="0">
              <a:buNone/>
            </a:pPr>
            <a:r>
              <a:rPr lang="en-US" sz="1600" b="1" dirty="0">
                <a:solidFill>
                  <a:srgbClr val="06B6D4"/>
                </a:solidFill>
                <a:latin typeface="Calibri" pitchFamily="34" charset="0"/>
                <a:ea typeface="Calibri" pitchFamily="34" charset="-122"/>
                <a:cs typeface="Calibri" pitchFamily="34" charset="-120"/>
              </a:rPr>
              <a:t>Uneven background</a:t>
            </a:r>
            <a:endParaRPr lang="en-US" sz="1600" dirty="0"/>
          </a:p>
        </p:txBody>
      </p:sp>
      <p:sp>
        <p:nvSpPr>
          <p:cNvPr id="16" name="Text 13"/>
          <p:cNvSpPr txBox="1"/>
          <p:nvPr/>
        </p:nvSpPr>
        <p:spPr>
          <a:xfrm>
            <a:off x="7498080" y="3611880"/>
            <a:ext cx="402336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Paper brightness drifts across the page, so no single cut-off separates ink from paper everywhere.</a:t>
            </a:r>
            <a:endParaRPr lang="en-US" sz="1300" dirty="0"/>
          </a:p>
        </p:txBody>
      </p:sp>
      <p:sp>
        <p:nvSpPr>
          <p:cNvPr id="17" name="Shape 14"/>
          <p:cNvSpPr/>
          <p:nvPr/>
        </p:nvSpPr>
        <p:spPr>
          <a:xfrm>
            <a:off x="6583680" y="4617720"/>
            <a:ext cx="5074920" cy="1325880"/>
          </a:xfrm>
          <a:prstGeom prst="roundRect">
            <a:avLst>
              <a:gd name="adj" fmla="val 6897"/>
            </a:avLst>
          </a:prstGeom>
          <a:solidFill>
            <a:srgbClr val="121A2B"/>
          </a:solidFill>
          <a:ln w="12700">
            <a:solidFill>
              <a:srgbClr val="121A2B"/>
            </a:solidFill>
            <a:prstDash val="solid"/>
          </a:ln>
        </p:spPr>
      </p:sp>
      <p:sp>
        <p:nvSpPr>
          <p:cNvPr id="18" name="Shape 15"/>
          <p:cNvSpPr/>
          <p:nvPr/>
        </p:nvSpPr>
        <p:spPr>
          <a:xfrm>
            <a:off x="6766560" y="4983480"/>
            <a:ext cx="548640" cy="548640"/>
          </a:xfrm>
          <a:prstGeom prst="ellipse">
            <a:avLst/>
          </a:prstGeom>
          <a:solidFill>
            <a:srgbClr val="F59E0B"/>
          </a:solidFill>
          <a:ln w="12700">
            <a:solidFill>
              <a:srgbClr val="F59E0B"/>
            </a:solidFill>
            <a:prstDash val="solid"/>
          </a:ln>
        </p:spPr>
      </p:sp>
      <p:sp>
        <p:nvSpPr>
          <p:cNvPr id="19" name="Text 16"/>
          <p:cNvSpPr txBox="1"/>
          <p:nvPr/>
        </p:nvSpPr>
        <p:spPr>
          <a:xfrm>
            <a:off x="6766560" y="4983480"/>
            <a:ext cx="548640" cy="548640"/>
          </a:xfrm>
          <a:prstGeom prst="rect">
            <a:avLst/>
          </a:prstGeom>
          <a:noFill/>
          <a:ln/>
        </p:spPr>
        <p:txBody>
          <a:bodyPr wrap="square" lIns="0" tIns="0" rIns="0" bIns="0" rtlCol="0" anchor="ctr"/>
          <a:lstStyle/>
          <a:p>
            <a:pPr algn="ctr" indent="0" marL="0">
              <a:buNone/>
            </a:pPr>
            <a:r>
              <a:rPr lang="en-US" sz="2000" b="1" dirty="0">
                <a:solidFill>
                  <a:srgbClr val="0A0E17"/>
                </a:solidFill>
                <a:latin typeface="Calibri" pitchFamily="34" charset="0"/>
                <a:ea typeface="Calibri" pitchFamily="34" charset="-122"/>
                <a:cs typeface="Calibri" pitchFamily="34" charset="-120"/>
              </a:rPr>
              <a:t>3</a:t>
            </a:r>
            <a:endParaRPr lang="en-US" sz="2000" dirty="0"/>
          </a:p>
        </p:txBody>
      </p:sp>
      <p:sp>
        <p:nvSpPr>
          <p:cNvPr id="20" name="Text 17"/>
          <p:cNvSpPr txBox="1"/>
          <p:nvPr/>
        </p:nvSpPr>
        <p:spPr>
          <a:xfrm>
            <a:off x="7498080" y="4727448"/>
            <a:ext cx="4023360" cy="320040"/>
          </a:xfrm>
          <a:prstGeom prst="rect">
            <a:avLst/>
          </a:prstGeom>
          <a:noFill/>
          <a:ln/>
        </p:spPr>
        <p:txBody>
          <a:bodyPr wrap="square" lIns="0" tIns="0" rIns="0" bIns="0" rtlCol="0" anchor="ctr"/>
          <a:lstStyle/>
          <a:p>
            <a:pPr indent="0" marL="0">
              <a:buNone/>
            </a:pPr>
            <a:r>
              <a:rPr lang="en-US" sz="1600" b="1" dirty="0">
                <a:solidFill>
                  <a:srgbClr val="06B6D4"/>
                </a:solidFill>
                <a:latin typeface="Calibri" pitchFamily="34" charset="0"/>
                <a:ea typeface="Calibri" pitchFamily="34" charset="-122"/>
                <a:cs typeface="Calibri" pitchFamily="34" charset="-120"/>
              </a:rPr>
              <a:t>Low contrast ink</a:t>
            </a:r>
            <a:endParaRPr lang="en-US" sz="1600" dirty="0"/>
          </a:p>
        </p:txBody>
      </p:sp>
      <p:sp>
        <p:nvSpPr>
          <p:cNvPr id="21" name="Text 18"/>
          <p:cNvSpPr txBox="1"/>
          <p:nvPr/>
        </p:nvSpPr>
        <p:spPr>
          <a:xfrm>
            <a:off x="7498080" y="5074920"/>
            <a:ext cx="402336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Text grey levels sit close to the paper level, so letters look faded and soft.</a:t>
            </a:r>
            <a:endParaRPr lang="en-US" sz="1300" dirty="0"/>
          </a:p>
        </p:txBody>
      </p:sp>
      <p:sp>
        <p:nvSpPr>
          <p:cNvPr id="22" name="Text 19"/>
          <p:cNvSpPr txBox="1"/>
          <p:nvPr/>
        </p:nvSpPr>
        <p:spPr>
          <a:xfrm>
            <a:off x="548640" y="5486400"/>
            <a:ext cx="5669280" cy="640080"/>
          </a:xfrm>
          <a:prstGeom prst="rect">
            <a:avLst/>
          </a:prstGeom>
          <a:noFill/>
          <a:ln/>
        </p:spPr>
        <p:txBody>
          <a:bodyPr wrap="square" lIns="0" tIns="0" rIns="0" bIns="0" rtlCol="0" anchor="t"/>
          <a:lstStyle/>
          <a:p>
            <a:pPr indent="0" marL="0">
              <a:buNone/>
            </a:pPr>
            <a:r>
              <a:rPr lang="en-US" sz="1500" b="1" dirty="0">
                <a:solidFill>
                  <a:srgbClr val="F59E0B"/>
                </a:solidFill>
                <a:latin typeface="Calibri" pitchFamily="34" charset="0"/>
                <a:ea typeface="Calibri" pitchFamily="34" charset="-122"/>
                <a:cs typeface="Calibri" pitchFamily="34" charset="-120"/>
              </a:rPr>
              <a:t>Goal: remove noise, even out contrast and sharpen strokes without destroying the letter shapes.</a:t>
            </a:r>
            <a:endParaRPr lang="en-US" sz="15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THE BIG PICTURE</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Seven stages from raw scan to restored page</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Each stage is a unit of the syllabus, and each output is a card in the web app</a:t>
            </a:r>
            <a:endParaRPr lang="en-US" sz="1600" dirty="0"/>
          </a:p>
        </p:txBody>
      </p:sp>
      <p:sp>
        <p:nvSpPr>
          <p:cNvPr id="5" name="Shape 3"/>
          <p:cNvSpPr/>
          <p:nvPr/>
        </p:nvSpPr>
        <p:spPr>
          <a:xfrm>
            <a:off x="548640" y="1737360"/>
            <a:ext cx="1481328" cy="3566160"/>
          </a:xfrm>
          <a:prstGeom prst="roundRect">
            <a:avLst>
              <a:gd name="adj" fmla="val 6173"/>
            </a:avLst>
          </a:prstGeom>
          <a:solidFill>
            <a:srgbClr val="121A2B"/>
          </a:solidFill>
          <a:ln w="12700">
            <a:solidFill>
              <a:srgbClr val="06B6D4"/>
            </a:solidFill>
            <a:prstDash val="solid"/>
          </a:ln>
        </p:spPr>
      </p:sp>
      <p:sp>
        <p:nvSpPr>
          <p:cNvPr id="6" name="Text 4"/>
          <p:cNvSpPr txBox="1"/>
          <p:nvPr/>
        </p:nvSpPr>
        <p:spPr>
          <a:xfrm>
            <a:off x="6400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UNIT 1-2</a:t>
            </a:r>
            <a:endParaRPr lang="en-US" sz="1000" dirty="0"/>
          </a:p>
        </p:txBody>
      </p:sp>
      <p:sp>
        <p:nvSpPr>
          <p:cNvPr id="7" name="Text 5"/>
          <p:cNvSpPr txBox="1"/>
          <p:nvPr/>
        </p:nvSpPr>
        <p:spPr>
          <a:xfrm>
            <a:off x="6400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Represent</a:t>
            </a:r>
            <a:endParaRPr lang="en-US" sz="1600" dirty="0"/>
          </a:p>
        </p:txBody>
      </p:sp>
      <p:pic>
        <p:nvPicPr>
          <p:cNvPr id="8" name="Image 0" descr="crop/grayscale.jpg">    </p:cNvPr>
          <p:cNvPicPr>
            <a:picLocks noChangeAspect="1"/>
          </p:cNvPicPr>
          <p:nvPr/>
        </p:nvPicPr>
        <p:blipFill>
          <a:blip r:embed="rId1"/>
          <a:stretch>
            <a:fillRect/>
          </a:stretch>
        </p:blipFill>
        <p:spPr>
          <a:xfrm>
            <a:off x="640080" y="2743200"/>
            <a:ext cx="1298448" cy="694944"/>
          </a:xfrm>
          <a:prstGeom prst="rect">
            <a:avLst/>
          </a:prstGeom>
        </p:spPr>
      </p:pic>
      <p:sp>
        <p:nvSpPr>
          <p:cNvPr id="9" name="Text 6"/>
          <p:cNvSpPr txBox="1"/>
          <p:nvPr/>
        </p:nvSpPr>
        <p:spPr>
          <a:xfrm>
            <a:off x="6400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Gray + colour spaces</a:t>
            </a:r>
            <a:endParaRPr lang="en-US" sz="1200" dirty="0"/>
          </a:p>
        </p:txBody>
      </p:sp>
      <p:sp>
        <p:nvSpPr>
          <p:cNvPr id="10" name="Text 7"/>
          <p:cNvSpPr txBox="1"/>
          <p:nvPr/>
        </p:nvSpPr>
        <p:spPr>
          <a:xfrm>
            <a:off x="2029968" y="3017520"/>
            <a:ext cx="118872"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148840" y="1737360"/>
            <a:ext cx="1481328" cy="3566160"/>
          </a:xfrm>
          <a:prstGeom prst="roundRect">
            <a:avLst>
              <a:gd name="adj" fmla="val 6173"/>
            </a:avLst>
          </a:prstGeom>
          <a:solidFill>
            <a:srgbClr val="121A2B"/>
          </a:solidFill>
          <a:ln w="12700">
            <a:solidFill>
              <a:srgbClr val="06B6D4"/>
            </a:solidFill>
            <a:prstDash val="solid"/>
          </a:ln>
        </p:spPr>
      </p:sp>
      <p:sp>
        <p:nvSpPr>
          <p:cNvPr id="12" name="Text 9"/>
          <p:cNvSpPr txBox="1"/>
          <p:nvPr/>
        </p:nvSpPr>
        <p:spPr>
          <a:xfrm>
            <a:off x="22402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UNIT 3-4</a:t>
            </a:r>
            <a:endParaRPr lang="en-US" sz="1000" dirty="0"/>
          </a:p>
        </p:txBody>
      </p:sp>
      <p:sp>
        <p:nvSpPr>
          <p:cNvPr id="13" name="Text 10"/>
          <p:cNvSpPr txBox="1"/>
          <p:nvPr/>
        </p:nvSpPr>
        <p:spPr>
          <a:xfrm>
            <a:off x="22402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Enhance</a:t>
            </a:r>
            <a:endParaRPr lang="en-US" sz="1600" dirty="0"/>
          </a:p>
        </p:txBody>
      </p:sp>
      <p:pic>
        <p:nvPicPr>
          <p:cNvPr id="14" name="Image 1" descr="crop/clahe.jpg">    </p:cNvPr>
          <p:cNvPicPr>
            <a:picLocks noChangeAspect="1"/>
          </p:cNvPicPr>
          <p:nvPr/>
        </p:nvPicPr>
        <p:blipFill>
          <a:blip r:embed="rId2"/>
          <a:stretch>
            <a:fillRect/>
          </a:stretch>
        </p:blipFill>
        <p:spPr>
          <a:xfrm>
            <a:off x="2240280" y="2743200"/>
            <a:ext cx="1298448" cy="694944"/>
          </a:xfrm>
          <a:prstGeom prst="rect">
            <a:avLst/>
          </a:prstGeom>
        </p:spPr>
      </p:pic>
      <p:sp>
        <p:nvSpPr>
          <p:cNvPr id="15" name="Text 11"/>
          <p:cNvSpPr txBox="1"/>
          <p:nvPr/>
        </p:nvSpPr>
        <p:spPr>
          <a:xfrm>
            <a:off x="22402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Gamma, histograms</a:t>
            </a:r>
            <a:endParaRPr lang="en-US" sz="1200" dirty="0"/>
          </a:p>
        </p:txBody>
      </p:sp>
      <p:sp>
        <p:nvSpPr>
          <p:cNvPr id="16" name="Text 12"/>
          <p:cNvSpPr txBox="1"/>
          <p:nvPr/>
        </p:nvSpPr>
        <p:spPr>
          <a:xfrm>
            <a:off x="3630168" y="3017520"/>
            <a:ext cx="118872"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17" name="Shape 13"/>
          <p:cNvSpPr/>
          <p:nvPr/>
        </p:nvSpPr>
        <p:spPr>
          <a:xfrm>
            <a:off x="3749040" y="1737360"/>
            <a:ext cx="1481328" cy="3566160"/>
          </a:xfrm>
          <a:prstGeom prst="roundRect">
            <a:avLst>
              <a:gd name="adj" fmla="val 6173"/>
            </a:avLst>
          </a:prstGeom>
          <a:solidFill>
            <a:srgbClr val="121A2B"/>
          </a:solidFill>
          <a:ln w="12700">
            <a:solidFill>
              <a:srgbClr val="06B6D4"/>
            </a:solidFill>
            <a:prstDash val="solid"/>
          </a:ln>
        </p:spPr>
      </p:sp>
      <p:sp>
        <p:nvSpPr>
          <p:cNvPr id="18" name="Text 14"/>
          <p:cNvSpPr txBox="1"/>
          <p:nvPr/>
        </p:nvSpPr>
        <p:spPr>
          <a:xfrm>
            <a:off x="38404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UNIT 5</a:t>
            </a:r>
            <a:endParaRPr lang="en-US" sz="1000" dirty="0"/>
          </a:p>
        </p:txBody>
      </p:sp>
      <p:sp>
        <p:nvSpPr>
          <p:cNvPr id="19" name="Text 15"/>
          <p:cNvSpPr txBox="1"/>
          <p:nvPr/>
        </p:nvSpPr>
        <p:spPr>
          <a:xfrm>
            <a:off x="38404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Filter</a:t>
            </a:r>
            <a:endParaRPr lang="en-US" sz="1600" dirty="0"/>
          </a:p>
        </p:txBody>
      </p:sp>
      <p:pic>
        <p:nvPicPr>
          <p:cNvPr id="20" name="Image 2" descr="crop/median_filter.jpg">    </p:cNvPr>
          <p:cNvPicPr>
            <a:picLocks noChangeAspect="1"/>
          </p:cNvPicPr>
          <p:nvPr/>
        </p:nvPicPr>
        <p:blipFill>
          <a:blip r:embed="rId3"/>
          <a:stretch>
            <a:fillRect/>
          </a:stretch>
        </p:blipFill>
        <p:spPr>
          <a:xfrm>
            <a:off x="3840480" y="2743200"/>
            <a:ext cx="1298448" cy="694944"/>
          </a:xfrm>
          <a:prstGeom prst="rect">
            <a:avLst/>
          </a:prstGeom>
        </p:spPr>
      </p:pic>
      <p:sp>
        <p:nvSpPr>
          <p:cNvPr id="21" name="Text 16"/>
          <p:cNvSpPr txBox="1"/>
          <p:nvPr/>
        </p:nvSpPr>
        <p:spPr>
          <a:xfrm>
            <a:off x="38404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Remove noise</a:t>
            </a:r>
            <a:endParaRPr lang="en-US" sz="1200" dirty="0"/>
          </a:p>
        </p:txBody>
      </p:sp>
      <p:sp>
        <p:nvSpPr>
          <p:cNvPr id="22" name="Text 17"/>
          <p:cNvSpPr txBox="1"/>
          <p:nvPr/>
        </p:nvSpPr>
        <p:spPr>
          <a:xfrm>
            <a:off x="5230368" y="3017520"/>
            <a:ext cx="118872"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23" name="Shape 18"/>
          <p:cNvSpPr/>
          <p:nvPr/>
        </p:nvSpPr>
        <p:spPr>
          <a:xfrm>
            <a:off x="5349240" y="1737360"/>
            <a:ext cx="1481328" cy="3566160"/>
          </a:xfrm>
          <a:prstGeom prst="roundRect">
            <a:avLst>
              <a:gd name="adj" fmla="val 6173"/>
            </a:avLst>
          </a:prstGeom>
          <a:solidFill>
            <a:srgbClr val="121A2B"/>
          </a:solidFill>
          <a:ln w="12700">
            <a:solidFill>
              <a:srgbClr val="06B6D4"/>
            </a:solidFill>
            <a:prstDash val="solid"/>
          </a:ln>
        </p:spPr>
      </p:sp>
      <p:sp>
        <p:nvSpPr>
          <p:cNvPr id="24" name="Text 19"/>
          <p:cNvSpPr txBox="1"/>
          <p:nvPr/>
        </p:nvSpPr>
        <p:spPr>
          <a:xfrm>
            <a:off x="54406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UNIT 6</a:t>
            </a:r>
            <a:endParaRPr lang="en-US" sz="1000" dirty="0"/>
          </a:p>
        </p:txBody>
      </p:sp>
      <p:sp>
        <p:nvSpPr>
          <p:cNvPr id="25" name="Text 20"/>
          <p:cNvSpPr txBox="1"/>
          <p:nvPr/>
        </p:nvSpPr>
        <p:spPr>
          <a:xfrm>
            <a:off x="54406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Edges</a:t>
            </a:r>
            <a:endParaRPr lang="en-US" sz="1600" dirty="0"/>
          </a:p>
        </p:txBody>
      </p:sp>
      <p:pic>
        <p:nvPicPr>
          <p:cNvPr id="26" name="Image 3" descr="crop/canny.jpg">    </p:cNvPr>
          <p:cNvPicPr>
            <a:picLocks noChangeAspect="1"/>
          </p:cNvPicPr>
          <p:nvPr/>
        </p:nvPicPr>
        <p:blipFill>
          <a:blip r:embed="rId4"/>
          <a:stretch>
            <a:fillRect/>
          </a:stretch>
        </p:blipFill>
        <p:spPr>
          <a:xfrm>
            <a:off x="5440680" y="2743200"/>
            <a:ext cx="1298448" cy="694944"/>
          </a:xfrm>
          <a:prstGeom prst="rect">
            <a:avLst/>
          </a:prstGeom>
        </p:spPr>
      </p:pic>
      <p:sp>
        <p:nvSpPr>
          <p:cNvPr id="27" name="Text 21"/>
          <p:cNvSpPr txBox="1"/>
          <p:nvPr/>
        </p:nvSpPr>
        <p:spPr>
          <a:xfrm>
            <a:off x="54406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Find stroke outlines</a:t>
            </a:r>
            <a:endParaRPr lang="en-US" sz="1200" dirty="0"/>
          </a:p>
        </p:txBody>
      </p:sp>
      <p:sp>
        <p:nvSpPr>
          <p:cNvPr id="28" name="Text 22"/>
          <p:cNvSpPr txBox="1"/>
          <p:nvPr/>
        </p:nvSpPr>
        <p:spPr>
          <a:xfrm>
            <a:off x="6830568" y="3017520"/>
            <a:ext cx="118872"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29" name="Shape 23"/>
          <p:cNvSpPr/>
          <p:nvPr/>
        </p:nvSpPr>
        <p:spPr>
          <a:xfrm>
            <a:off x="6949440" y="1737360"/>
            <a:ext cx="1481328" cy="3566160"/>
          </a:xfrm>
          <a:prstGeom prst="roundRect">
            <a:avLst>
              <a:gd name="adj" fmla="val 6173"/>
            </a:avLst>
          </a:prstGeom>
          <a:solidFill>
            <a:srgbClr val="121A2B"/>
          </a:solidFill>
          <a:ln w="12700">
            <a:solidFill>
              <a:srgbClr val="06B6D4"/>
            </a:solidFill>
            <a:prstDash val="solid"/>
          </a:ln>
        </p:spPr>
      </p:sp>
      <p:sp>
        <p:nvSpPr>
          <p:cNvPr id="30" name="Text 24"/>
          <p:cNvSpPr txBox="1"/>
          <p:nvPr/>
        </p:nvSpPr>
        <p:spPr>
          <a:xfrm>
            <a:off x="70408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UNIT 7</a:t>
            </a:r>
            <a:endParaRPr lang="en-US" sz="1000" dirty="0"/>
          </a:p>
        </p:txBody>
      </p:sp>
      <p:sp>
        <p:nvSpPr>
          <p:cNvPr id="31" name="Text 25"/>
          <p:cNvSpPr txBox="1"/>
          <p:nvPr/>
        </p:nvSpPr>
        <p:spPr>
          <a:xfrm>
            <a:off x="70408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Segment</a:t>
            </a:r>
            <a:endParaRPr lang="en-US" sz="1600" dirty="0"/>
          </a:p>
        </p:txBody>
      </p:sp>
      <p:pic>
        <p:nvPicPr>
          <p:cNvPr id="32" name="Image 4" descr="crop/adaptive_gaussian.jpg">    </p:cNvPr>
          <p:cNvPicPr>
            <a:picLocks noChangeAspect="1"/>
          </p:cNvPicPr>
          <p:nvPr/>
        </p:nvPicPr>
        <p:blipFill>
          <a:blip r:embed="rId5"/>
          <a:stretch>
            <a:fillRect/>
          </a:stretch>
        </p:blipFill>
        <p:spPr>
          <a:xfrm>
            <a:off x="7040880" y="2743200"/>
            <a:ext cx="1298448" cy="694944"/>
          </a:xfrm>
          <a:prstGeom prst="rect">
            <a:avLst/>
          </a:prstGeom>
        </p:spPr>
      </p:pic>
      <p:sp>
        <p:nvSpPr>
          <p:cNvPr id="33" name="Text 26"/>
          <p:cNvSpPr txBox="1"/>
          <p:nvPr/>
        </p:nvSpPr>
        <p:spPr>
          <a:xfrm>
            <a:off x="70408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Ink vs paper</a:t>
            </a:r>
            <a:endParaRPr lang="en-US" sz="1200" dirty="0"/>
          </a:p>
        </p:txBody>
      </p:sp>
      <p:sp>
        <p:nvSpPr>
          <p:cNvPr id="34" name="Text 27"/>
          <p:cNvSpPr txBox="1"/>
          <p:nvPr/>
        </p:nvSpPr>
        <p:spPr>
          <a:xfrm>
            <a:off x="8430768" y="3017520"/>
            <a:ext cx="118872"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35" name="Shape 28"/>
          <p:cNvSpPr/>
          <p:nvPr/>
        </p:nvSpPr>
        <p:spPr>
          <a:xfrm>
            <a:off x="8549640" y="1737360"/>
            <a:ext cx="1481328" cy="3566160"/>
          </a:xfrm>
          <a:prstGeom prst="roundRect">
            <a:avLst>
              <a:gd name="adj" fmla="val 6173"/>
            </a:avLst>
          </a:prstGeom>
          <a:solidFill>
            <a:srgbClr val="121A2B"/>
          </a:solidFill>
          <a:ln w="12700">
            <a:solidFill>
              <a:srgbClr val="06B6D4"/>
            </a:solidFill>
            <a:prstDash val="solid"/>
          </a:ln>
        </p:spPr>
      </p:sp>
      <p:sp>
        <p:nvSpPr>
          <p:cNvPr id="36" name="Text 29"/>
          <p:cNvSpPr txBox="1"/>
          <p:nvPr/>
        </p:nvSpPr>
        <p:spPr>
          <a:xfrm>
            <a:off x="86410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MORPH + DFT</a:t>
            </a:r>
            <a:endParaRPr lang="en-US" sz="1000" dirty="0"/>
          </a:p>
        </p:txBody>
      </p:sp>
      <p:sp>
        <p:nvSpPr>
          <p:cNvPr id="37" name="Text 30"/>
          <p:cNvSpPr txBox="1"/>
          <p:nvPr/>
        </p:nvSpPr>
        <p:spPr>
          <a:xfrm>
            <a:off x="86410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Clean + analyse</a:t>
            </a:r>
            <a:endParaRPr lang="en-US" sz="1600" dirty="0"/>
          </a:p>
        </p:txBody>
      </p:sp>
      <p:pic>
        <p:nvPicPr>
          <p:cNvPr id="38" name="Image 5" descr="crop/opening.jpg">    </p:cNvPr>
          <p:cNvPicPr>
            <a:picLocks noChangeAspect="1"/>
          </p:cNvPicPr>
          <p:nvPr/>
        </p:nvPicPr>
        <p:blipFill>
          <a:blip r:embed="rId6"/>
          <a:stretch>
            <a:fillRect/>
          </a:stretch>
        </p:blipFill>
        <p:spPr>
          <a:xfrm>
            <a:off x="8641080" y="2743200"/>
            <a:ext cx="1298448" cy="694944"/>
          </a:xfrm>
          <a:prstGeom prst="rect">
            <a:avLst/>
          </a:prstGeom>
        </p:spPr>
      </p:pic>
      <p:sp>
        <p:nvSpPr>
          <p:cNvPr id="39" name="Text 31"/>
          <p:cNvSpPr txBox="1"/>
          <p:nvPr/>
        </p:nvSpPr>
        <p:spPr>
          <a:xfrm>
            <a:off x="86410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Shapes and frequencies</a:t>
            </a:r>
            <a:endParaRPr lang="en-US" sz="1200" dirty="0"/>
          </a:p>
        </p:txBody>
      </p:sp>
      <p:sp>
        <p:nvSpPr>
          <p:cNvPr id="40" name="Text 32"/>
          <p:cNvSpPr txBox="1"/>
          <p:nvPr/>
        </p:nvSpPr>
        <p:spPr>
          <a:xfrm>
            <a:off x="10030968" y="3017520"/>
            <a:ext cx="118872" cy="365760"/>
          </a:xfrm>
          <a:prstGeom prst="rect">
            <a:avLst/>
          </a:prstGeom>
          <a:no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a:t>
            </a:r>
            <a:endParaRPr lang="en-US" sz="2000" dirty="0"/>
          </a:p>
        </p:txBody>
      </p:sp>
      <p:sp>
        <p:nvSpPr>
          <p:cNvPr id="41" name="Shape 33"/>
          <p:cNvSpPr/>
          <p:nvPr/>
        </p:nvSpPr>
        <p:spPr>
          <a:xfrm>
            <a:off x="10149840" y="1737360"/>
            <a:ext cx="1481328" cy="3566160"/>
          </a:xfrm>
          <a:prstGeom prst="roundRect">
            <a:avLst>
              <a:gd name="adj" fmla="val 6173"/>
            </a:avLst>
          </a:prstGeom>
          <a:solidFill>
            <a:srgbClr val="121A2B"/>
          </a:solidFill>
          <a:ln w="12700">
            <a:solidFill>
              <a:srgbClr val="F59E0B"/>
            </a:solidFill>
            <a:prstDash val="solid"/>
          </a:ln>
        </p:spPr>
      </p:sp>
      <p:sp>
        <p:nvSpPr>
          <p:cNvPr id="42" name="Text 34"/>
          <p:cNvSpPr txBox="1"/>
          <p:nvPr/>
        </p:nvSpPr>
        <p:spPr>
          <a:xfrm>
            <a:off x="10241280" y="1828800"/>
            <a:ext cx="1298448" cy="228600"/>
          </a:xfrm>
          <a:prstGeom prst="rect">
            <a:avLst/>
          </a:prstGeom>
          <a:noFill/>
          <a:ln/>
        </p:spPr>
        <p:txBody>
          <a:bodyPr wrap="square" lIns="0" tIns="0" rIns="0" bIns="0" rtlCol="0" anchor="ctr"/>
          <a:lstStyle/>
          <a:p>
            <a:pPr indent="0" marL="0">
              <a:buNone/>
            </a:pPr>
            <a:r>
              <a:rPr lang="en-US" sz="1000" b="1" spc="100" kern="0" dirty="0">
                <a:solidFill>
                  <a:srgbClr val="F59E0B"/>
                </a:solidFill>
                <a:latin typeface="Calibri" pitchFamily="34" charset="0"/>
                <a:ea typeface="Calibri" pitchFamily="34" charset="-122"/>
                <a:cs typeface="Calibri" pitchFamily="34" charset="-120"/>
              </a:rPr>
              <a:t>MASTER</a:t>
            </a:r>
            <a:endParaRPr lang="en-US" sz="1000" dirty="0"/>
          </a:p>
        </p:txBody>
      </p:sp>
      <p:sp>
        <p:nvSpPr>
          <p:cNvPr id="43" name="Text 35"/>
          <p:cNvSpPr txBox="1"/>
          <p:nvPr/>
        </p:nvSpPr>
        <p:spPr>
          <a:xfrm>
            <a:off x="10241280" y="2103120"/>
            <a:ext cx="1298448" cy="54864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Restore</a:t>
            </a:r>
            <a:endParaRPr lang="en-US" sz="1600" dirty="0"/>
          </a:p>
        </p:txBody>
      </p:sp>
      <p:pic>
        <p:nvPicPr>
          <p:cNvPr id="44" name="Image 6" descr="crop/final_hd.jpg">    </p:cNvPr>
          <p:cNvPicPr>
            <a:picLocks noChangeAspect="1"/>
          </p:cNvPicPr>
          <p:nvPr/>
        </p:nvPicPr>
        <p:blipFill>
          <a:blip r:embed="rId7"/>
          <a:stretch>
            <a:fillRect/>
          </a:stretch>
        </p:blipFill>
        <p:spPr>
          <a:xfrm>
            <a:off x="10241280" y="2743200"/>
            <a:ext cx="1298448" cy="694944"/>
          </a:xfrm>
          <a:prstGeom prst="rect">
            <a:avLst/>
          </a:prstGeom>
        </p:spPr>
      </p:pic>
      <p:sp>
        <p:nvSpPr>
          <p:cNvPr id="45" name="Text 36"/>
          <p:cNvSpPr txBox="1"/>
          <p:nvPr/>
        </p:nvSpPr>
        <p:spPr>
          <a:xfrm>
            <a:off x="10241280" y="3611880"/>
            <a:ext cx="1298448" cy="73152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2× HD output</a:t>
            </a:r>
            <a:endParaRPr lang="en-US" sz="1200" dirty="0"/>
          </a:p>
        </p:txBody>
      </p:sp>
      <p:sp>
        <p:nvSpPr>
          <p:cNvPr id="46" name="Text 37"/>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How it connects: every stage starts from the same grayscale image. Edge, morphology and threshold steps then reuse the CLAHE-sharpened version. The master engine works on the original colour image.</a:t>
            </a:r>
            <a:endParaRPr lang="en-US" sz="14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UNITS 1 &amp; 2 · REPRESENTATION</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does the text actually live?</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In brightness (luminance), not in colour</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WHAT HAPPENS</a:t>
            </a:r>
            <a:endParaRPr lang="en-US" sz="1100" dirty="0"/>
          </a:p>
        </p:txBody>
      </p:sp>
      <p:sp>
        <p:nvSpPr>
          <p:cNvPr id="6" name="Text 4"/>
          <p:cNvSpPr txBox="1"/>
          <p:nvPr/>
        </p:nvSpPr>
        <p:spPr>
          <a:xfrm>
            <a:off x="548640" y="1947672"/>
            <a:ext cx="393192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 colour pixel has 3 numbers (24 bit). Grayscale keeps one number (8 bit) as a weighted sum of R, G, B. Green gets the most weight because our eyes are most sensitive to it.</a:t>
            </a:r>
            <a:endParaRPr lang="en-US" sz="1400" dirty="0"/>
          </a:p>
        </p:txBody>
      </p:sp>
      <p:sp>
        <p:nvSpPr>
          <p:cNvPr id="7" name="Text 5"/>
          <p:cNvSpPr txBox="1"/>
          <p:nvPr/>
        </p:nvSpPr>
        <p:spPr>
          <a:xfrm>
            <a:off x="548640" y="350215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WHY IT MATTERS</a:t>
            </a:r>
            <a:endParaRPr lang="en-US" sz="1100" dirty="0"/>
          </a:p>
        </p:txBody>
      </p:sp>
      <p:sp>
        <p:nvSpPr>
          <p:cNvPr id="8" name="Text 6"/>
          <p:cNvSpPr txBox="1"/>
          <p:nvPr/>
        </p:nvSpPr>
        <p:spPr>
          <a:xfrm>
            <a:off x="548640" y="3758184"/>
            <a:ext cx="393192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Letters are visible in the luminance channel. The chroma channel (Cr) is almost flat, so colour can be left alone while only brightness is sharpened. That is the idea behind the LAB step in the master engine.</a:t>
            </a:r>
            <a:endParaRPr lang="en-US" sz="1400" dirty="0"/>
          </a:p>
        </p:txBody>
      </p:sp>
      <p:sp>
        <p:nvSpPr>
          <p:cNvPr id="9" name="Shape 7"/>
          <p:cNvSpPr/>
          <p:nvPr/>
        </p:nvSpPr>
        <p:spPr>
          <a:xfrm>
            <a:off x="548640" y="5532120"/>
            <a:ext cx="3931920" cy="731520"/>
          </a:xfrm>
          <a:prstGeom prst="roundRect">
            <a:avLst>
              <a:gd name="adj" fmla="val 12500"/>
            </a:avLst>
          </a:prstGeom>
          <a:solidFill>
            <a:srgbClr val="121A2B"/>
          </a:solidFill>
          <a:ln w="12700">
            <a:solidFill>
              <a:srgbClr val="06B6D4"/>
            </a:solidFill>
            <a:prstDash val="solid"/>
          </a:ln>
        </p:spPr>
      </p:sp>
      <p:sp>
        <p:nvSpPr>
          <p:cNvPr id="10" name="Text 8"/>
          <p:cNvSpPr txBox="1"/>
          <p:nvPr/>
        </p:nvSpPr>
        <p:spPr>
          <a:xfrm>
            <a:off x="731520" y="5623560"/>
            <a:ext cx="3566160" cy="54864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Y = 0.299 R + 0.587 G + 0.114 B</a:t>
            </a:r>
            <a:endParaRPr lang="en-US" sz="1300" dirty="0"/>
          </a:p>
        </p:txBody>
      </p:sp>
      <p:pic>
        <p:nvPicPr>
          <p:cNvPr id="11" name="Image 0" descr="crop/grayscale.jpg">    </p:cNvPr>
          <p:cNvPicPr>
            <a:picLocks noChangeAspect="1"/>
          </p:cNvPicPr>
          <p:nvPr/>
        </p:nvPicPr>
        <p:blipFill>
          <a:blip r:embed="rId1"/>
          <a:stretch>
            <a:fillRect/>
          </a:stretch>
        </p:blipFill>
        <p:spPr>
          <a:xfrm>
            <a:off x="4754880" y="1691640"/>
            <a:ext cx="3383280" cy="1828800"/>
          </a:xfrm>
          <a:prstGeom prst="rect">
            <a:avLst/>
          </a:prstGeom>
        </p:spPr>
      </p:pic>
      <p:sp>
        <p:nvSpPr>
          <p:cNvPr id="12" name="Shape 9"/>
          <p:cNvSpPr/>
          <p:nvPr/>
        </p:nvSpPr>
        <p:spPr>
          <a:xfrm>
            <a:off x="4754880" y="1691640"/>
            <a:ext cx="3383280" cy="1828800"/>
          </a:xfrm>
          <a:prstGeom prst="rect">
            <a:avLst/>
          </a:prstGeom>
          <a:ln w="9525">
            <a:solidFill>
              <a:srgbClr val="26324A"/>
            </a:solidFill>
            <a:prstDash val="solid"/>
          </a:ln>
        </p:spPr>
      </p:sp>
      <p:sp>
        <p:nvSpPr>
          <p:cNvPr id="13" name="Text 10"/>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Grayscale  </a:t>
            </a:r>
            <a:pPr indent="0" marL="0">
              <a:buNone/>
            </a:pPr>
            <a:r>
              <a:rPr lang="en-US" sz="1100" dirty="0">
                <a:solidFill>
                  <a:srgbClr val="9FB3C8"/>
                </a:solidFill>
                <a:latin typeface="Calibri" pitchFamily="34" charset="0"/>
                <a:ea typeface="Calibri" pitchFamily="34" charset="-122"/>
                <a:cs typeface="Calibri" pitchFamily="34" charset="-120"/>
              </a:rPr>
              <a:t>8-bit luminance</a:t>
            </a:r>
            <a:endParaRPr lang="en-US" sz="1100" dirty="0"/>
          </a:p>
        </p:txBody>
      </p:sp>
      <p:pic>
        <p:nvPicPr>
          <p:cNvPr id="14" name="Image 1" descr="crop/hsv_v.jpg">    </p:cNvPr>
          <p:cNvPicPr>
            <a:picLocks noChangeAspect="1"/>
          </p:cNvPicPr>
          <p:nvPr/>
        </p:nvPicPr>
        <p:blipFill>
          <a:blip r:embed="rId2"/>
          <a:stretch>
            <a:fillRect/>
          </a:stretch>
        </p:blipFill>
        <p:spPr>
          <a:xfrm>
            <a:off x="8366760" y="1691640"/>
            <a:ext cx="3383280" cy="1828800"/>
          </a:xfrm>
          <a:prstGeom prst="rect">
            <a:avLst/>
          </a:prstGeom>
        </p:spPr>
      </p:pic>
      <p:sp>
        <p:nvSpPr>
          <p:cNvPr id="15" name="Shape 11"/>
          <p:cNvSpPr/>
          <p:nvPr/>
        </p:nvSpPr>
        <p:spPr>
          <a:xfrm>
            <a:off x="8366760" y="1691640"/>
            <a:ext cx="3383280" cy="1828800"/>
          </a:xfrm>
          <a:prstGeom prst="rect">
            <a:avLst/>
          </a:prstGeom>
          <a:ln w="9525">
            <a:solidFill>
              <a:srgbClr val="26324A"/>
            </a:solidFill>
            <a:prstDash val="solid"/>
          </a:ln>
        </p:spPr>
      </p:sp>
      <p:sp>
        <p:nvSpPr>
          <p:cNvPr id="16" name="Text 12"/>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HSV Value  </a:t>
            </a:r>
            <a:pPr indent="0" marL="0">
              <a:buNone/>
            </a:pPr>
            <a:r>
              <a:rPr lang="en-US" sz="1100" dirty="0">
                <a:solidFill>
                  <a:srgbClr val="9FB3C8"/>
                </a:solidFill>
                <a:latin typeface="Calibri" pitchFamily="34" charset="0"/>
                <a:ea typeface="Calibri" pitchFamily="34" charset="-122"/>
                <a:cs typeface="Calibri" pitchFamily="34" charset="-120"/>
              </a:rPr>
              <a:t>brightness channel</a:t>
            </a:r>
            <a:endParaRPr lang="en-US" sz="1100" dirty="0"/>
          </a:p>
        </p:txBody>
      </p:sp>
      <p:pic>
        <p:nvPicPr>
          <p:cNvPr id="17" name="Image 2" descr="crop/ycrcb_y.jpg">    </p:cNvPr>
          <p:cNvPicPr>
            <a:picLocks noChangeAspect="1"/>
          </p:cNvPicPr>
          <p:nvPr/>
        </p:nvPicPr>
        <p:blipFill>
          <a:blip r:embed="rId3"/>
          <a:stretch>
            <a:fillRect/>
          </a:stretch>
        </p:blipFill>
        <p:spPr>
          <a:xfrm>
            <a:off x="4754880" y="4023360"/>
            <a:ext cx="3383280" cy="1828800"/>
          </a:xfrm>
          <a:prstGeom prst="rect">
            <a:avLst/>
          </a:prstGeom>
        </p:spPr>
      </p:pic>
      <p:sp>
        <p:nvSpPr>
          <p:cNvPr id="18" name="Shape 13"/>
          <p:cNvSpPr/>
          <p:nvPr/>
        </p:nvSpPr>
        <p:spPr>
          <a:xfrm>
            <a:off x="4754880" y="4023360"/>
            <a:ext cx="3383280" cy="1828800"/>
          </a:xfrm>
          <a:prstGeom prst="rect">
            <a:avLst/>
          </a:prstGeom>
          <a:ln w="9525">
            <a:solidFill>
              <a:srgbClr val="26324A"/>
            </a:solidFill>
            <a:prstDash val="solid"/>
          </a:ln>
        </p:spPr>
      </p:sp>
      <p:sp>
        <p:nvSpPr>
          <p:cNvPr id="19" name="Text 14"/>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YCrCb: Y  </a:t>
            </a:r>
            <a:pPr indent="0" marL="0">
              <a:buNone/>
            </a:pPr>
            <a:r>
              <a:rPr lang="en-US" sz="1100" dirty="0">
                <a:solidFill>
                  <a:srgbClr val="9FB3C8"/>
                </a:solidFill>
                <a:latin typeface="Calibri" pitchFamily="34" charset="0"/>
                <a:ea typeface="Calibri" pitchFamily="34" charset="-122"/>
                <a:cs typeface="Calibri" pitchFamily="34" charset="-120"/>
              </a:rPr>
              <a:t>luma, carries the text</a:t>
            </a:r>
            <a:endParaRPr lang="en-US" sz="1100" dirty="0"/>
          </a:p>
        </p:txBody>
      </p:sp>
      <p:pic>
        <p:nvPicPr>
          <p:cNvPr id="20" name="Image 3" descr="crop/ycrcb_cr.jpg">    </p:cNvPr>
          <p:cNvPicPr>
            <a:picLocks noChangeAspect="1"/>
          </p:cNvPicPr>
          <p:nvPr/>
        </p:nvPicPr>
        <p:blipFill>
          <a:blip r:embed="rId4"/>
          <a:stretch>
            <a:fillRect/>
          </a:stretch>
        </p:blipFill>
        <p:spPr>
          <a:xfrm>
            <a:off x="8366760" y="4023360"/>
            <a:ext cx="3383280" cy="1828800"/>
          </a:xfrm>
          <a:prstGeom prst="rect">
            <a:avLst/>
          </a:prstGeom>
        </p:spPr>
      </p:pic>
      <p:sp>
        <p:nvSpPr>
          <p:cNvPr id="21" name="Shape 15"/>
          <p:cNvSpPr/>
          <p:nvPr/>
        </p:nvSpPr>
        <p:spPr>
          <a:xfrm>
            <a:off x="8366760" y="4023360"/>
            <a:ext cx="3383280" cy="1828800"/>
          </a:xfrm>
          <a:prstGeom prst="rect">
            <a:avLst/>
          </a:prstGeom>
          <a:ln w="9525">
            <a:solidFill>
              <a:srgbClr val="26324A"/>
            </a:solidFill>
            <a:prstDash val="solid"/>
          </a:ln>
        </p:spPr>
      </p:sp>
      <p:sp>
        <p:nvSpPr>
          <p:cNvPr id="22" name="Text 16"/>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YCrCb: Cr  </a:t>
            </a:r>
            <a:pPr indent="0" marL="0">
              <a:buNone/>
            </a:pPr>
            <a:r>
              <a:rPr lang="en-US" sz="1100" dirty="0">
                <a:solidFill>
                  <a:srgbClr val="9FB3C8"/>
                </a:solidFill>
                <a:latin typeface="Calibri" pitchFamily="34" charset="0"/>
                <a:ea typeface="Calibri" pitchFamily="34" charset="-122"/>
                <a:cs typeface="Calibri" pitchFamily="34" charset="-120"/>
              </a:rPr>
              <a:t>chroma, nearly flat</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UNIT 3 · POINT PROCESSING</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Change each pixel on its own</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The output depends only on that pixel's input value</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WHAT HAPPENS</a:t>
            </a:r>
            <a:endParaRPr lang="en-US" sz="1100" dirty="0"/>
          </a:p>
        </p:txBody>
      </p:sp>
      <p:sp>
        <p:nvSpPr>
          <p:cNvPr id="6" name="Text 4"/>
          <p:cNvSpPr txBox="1"/>
          <p:nvPr/>
        </p:nvSpPr>
        <p:spPr>
          <a:xfrm>
            <a:off x="548640" y="1947672"/>
            <a:ext cx="3931920" cy="11887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Every gray level r is mapped to a new level s by one formula. A power law with γ below 1 lifts dark tones, γ above 1 pushes bright tones down.</a:t>
            </a:r>
            <a:endParaRPr lang="en-US" sz="1400" dirty="0"/>
          </a:p>
        </p:txBody>
      </p:sp>
      <p:sp>
        <p:nvSpPr>
          <p:cNvPr id="7" name="Text 5"/>
          <p:cNvSpPr txBox="1"/>
          <p:nvPr/>
        </p:nvSpPr>
        <p:spPr>
          <a:xfrm>
            <a:off x="548640" y="331927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ALSO IN THE APP</a:t>
            </a:r>
            <a:endParaRPr lang="en-US" sz="1100" dirty="0"/>
          </a:p>
        </p:txBody>
      </p:sp>
      <p:sp>
        <p:nvSpPr>
          <p:cNvPr id="8" name="Text 6"/>
          <p:cNvSpPr txBox="1"/>
          <p:nvPr/>
        </p:nvSpPr>
        <p:spPr>
          <a:xfrm>
            <a:off x="548640" y="3575304"/>
            <a:ext cx="393192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Digital negative s = 255 − r, contrast stretch (map min..max to 0..255) and intensity slicing of the 100-180 band.</a:t>
            </a:r>
            <a:endParaRPr lang="en-US" sz="1400" dirty="0"/>
          </a:p>
        </p:txBody>
      </p:sp>
      <p:sp>
        <p:nvSpPr>
          <p:cNvPr id="9" name="Shape 7"/>
          <p:cNvSpPr/>
          <p:nvPr/>
        </p:nvSpPr>
        <p:spPr>
          <a:xfrm>
            <a:off x="548640" y="5349240"/>
            <a:ext cx="3931920" cy="914400"/>
          </a:xfrm>
          <a:prstGeom prst="roundRect">
            <a:avLst>
              <a:gd name="adj" fmla="val 10000"/>
            </a:avLst>
          </a:prstGeom>
          <a:solidFill>
            <a:srgbClr val="121A2B"/>
          </a:solidFill>
          <a:ln w="12700">
            <a:solidFill>
              <a:srgbClr val="06B6D4"/>
            </a:solidFill>
            <a:prstDash val="solid"/>
          </a:ln>
        </p:spPr>
      </p:sp>
      <p:sp>
        <p:nvSpPr>
          <p:cNvPr id="10" name="Text 8"/>
          <p:cNvSpPr txBox="1"/>
          <p:nvPr/>
        </p:nvSpPr>
        <p:spPr>
          <a:xfrm>
            <a:off x="731520" y="5440680"/>
            <a:ext cx="3566160" cy="73152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Gamma: s = c · r^γ</a:t>
            </a:r>
            <a:endParaRPr lang="en-US" sz="1300" dirty="0"/>
          </a:p>
          <a:p>
            <a:pPr indent="0" marL="0">
              <a:buNone/>
            </a:pPr>
            <a:r>
              <a:rPr lang="en-US" sz="1300" dirty="0">
                <a:solidFill>
                  <a:srgbClr val="FFFFFF"/>
                </a:solidFill>
                <a:latin typeface="Cambria" pitchFamily="34" charset="0"/>
                <a:ea typeface="Cambria" pitchFamily="34" charset="-122"/>
                <a:cs typeface="Cambria" pitchFamily="34" charset="-120"/>
              </a:rPr>
              <a:t>Log: s = c · log(1 + r)</a:t>
            </a:r>
            <a:endParaRPr lang="en-US" sz="1300" dirty="0"/>
          </a:p>
        </p:txBody>
      </p:sp>
      <p:pic>
        <p:nvPicPr>
          <p:cNvPr id="11" name="Image 0" descr="crop/grayscale.jpg">    </p:cNvPr>
          <p:cNvPicPr>
            <a:picLocks noChangeAspect="1"/>
          </p:cNvPicPr>
          <p:nvPr/>
        </p:nvPicPr>
        <p:blipFill>
          <a:blip r:embed="rId1"/>
          <a:stretch>
            <a:fillRect/>
          </a:stretch>
        </p:blipFill>
        <p:spPr>
          <a:xfrm>
            <a:off x="4754880" y="1691640"/>
            <a:ext cx="3383280" cy="1828800"/>
          </a:xfrm>
          <a:prstGeom prst="rect">
            <a:avLst/>
          </a:prstGeom>
        </p:spPr>
      </p:pic>
      <p:sp>
        <p:nvSpPr>
          <p:cNvPr id="12" name="Shape 9"/>
          <p:cNvSpPr/>
          <p:nvPr/>
        </p:nvSpPr>
        <p:spPr>
          <a:xfrm>
            <a:off x="4754880" y="1691640"/>
            <a:ext cx="3383280" cy="1828800"/>
          </a:xfrm>
          <a:prstGeom prst="rect">
            <a:avLst/>
          </a:prstGeom>
          <a:ln w="9525">
            <a:solidFill>
              <a:srgbClr val="26324A"/>
            </a:solidFill>
            <a:prstDash val="solid"/>
          </a:ln>
        </p:spPr>
      </p:sp>
      <p:sp>
        <p:nvSpPr>
          <p:cNvPr id="13" name="Text 10"/>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Original  </a:t>
            </a:r>
            <a:pPr indent="0" marL="0">
              <a:buNone/>
            </a:pPr>
            <a:r>
              <a:rPr lang="en-US" sz="1100" dirty="0">
                <a:solidFill>
                  <a:srgbClr val="9FB3C8"/>
                </a:solidFill>
                <a:latin typeface="Calibri" pitchFamily="34" charset="0"/>
                <a:ea typeface="Calibri" pitchFamily="34" charset="-122"/>
                <a:cs typeface="Calibri" pitchFamily="34" charset="-120"/>
              </a:rPr>
              <a:t>reference</a:t>
            </a:r>
            <a:endParaRPr lang="en-US" sz="1100" dirty="0"/>
          </a:p>
        </p:txBody>
      </p:sp>
      <p:pic>
        <p:nvPicPr>
          <p:cNvPr id="14" name="Image 1" descr="crop/gamma_brighten.jpg">    </p:cNvPr>
          <p:cNvPicPr>
            <a:picLocks noChangeAspect="1"/>
          </p:cNvPicPr>
          <p:nvPr/>
        </p:nvPicPr>
        <p:blipFill>
          <a:blip r:embed="rId2"/>
          <a:stretch>
            <a:fillRect/>
          </a:stretch>
        </p:blipFill>
        <p:spPr>
          <a:xfrm>
            <a:off x="8366760" y="1691640"/>
            <a:ext cx="3383280" cy="1828800"/>
          </a:xfrm>
          <a:prstGeom prst="rect">
            <a:avLst/>
          </a:prstGeom>
        </p:spPr>
      </p:pic>
      <p:sp>
        <p:nvSpPr>
          <p:cNvPr id="15" name="Shape 11"/>
          <p:cNvSpPr/>
          <p:nvPr/>
        </p:nvSpPr>
        <p:spPr>
          <a:xfrm>
            <a:off x="8366760" y="1691640"/>
            <a:ext cx="3383280" cy="1828800"/>
          </a:xfrm>
          <a:prstGeom prst="rect">
            <a:avLst/>
          </a:prstGeom>
          <a:ln w="9525">
            <a:solidFill>
              <a:srgbClr val="26324A"/>
            </a:solidFill>
            <a:prstDash val="solid"/>
          </a:ln>
        </p:spPr>
      </p:sp>
      <p:sp>
        <p:nvSpPr>
          <p:cNvPr id="16" name="Text 12"/>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γ = 0.5  </a:t>
            </a:r>
            <a:pPr indent="0" marL="0">
              <a:buNone/>
            </a:pPr>
            <a:r>
              <a:rPr lang="en-US" sz="1100" dirty="0">
                <a:solidFill>
                  <a:srgbClr val="9FB3C8"/>
                </a:solidFill>
                <a:latin typeface="Calibri" pitchFamily="34" charset="0"/>
                <a:ea typeface="Calibri" pitchFamily="34" charset="-122"/>
                <a:cs typeface="Calibri" pitchFamily="34" charset="-120"/>
              </a:rPr>
              <a:t>dark areas lifted</a:t>
            </a:r>
            <a:endParaRPr lang="en-US" sz="1100" dirty="0"/>
          </a:p>
        </p:txBody>
      </p:sp>
      <p:pic>
        <p:nvPicPr>
          <p:cNvPr id="17" name="Image 2" descr="crop/gamma_darken.jpg">    </p:cNvPr>
          <p:cNvPicPr>
            <a:picLocks noChangeAspect="1"/>
          </p:cNvPicPr>
          <p:nvPr/>
        </p:nvPicPr>
        <p:blipFill>
          <a:blip r:embed="rId3"/>
          <a:stretch>
            <a:fillRect/>
          </a:stretch>
        </p:blipFill>
        <p:spPr>
          <a:xfrm>
            <a:off x="4754880" y="4023360"/>
            <a:ext cx="3383280" cy="1828800"/>
          </a:xfrm>
          <a:prstGeom prst="rect">
            <a:avLst/>
          </a:prstGeom>
        </p:spPr>
      </p:pic>
      <p:sp>
        <p:nvSpPr>
          <p:cNvPr id="18" name="Shape 13"/>
          <p:cNvSpPr/>
          <p:nvPr/>
        </p:nvSpPr>
        <p:spPr>
          <a:xfrm>
            <a:off x="4754880" y="4023360"/>
            <a:ext cx="3383280" cy="1828800"/>
          </a:xfrm>
          <a:prstGeom prst="rect">
            <a:avLst/>
          </a:prstGeom>
          <a:ln w="9525">
            <a:solidFill>
              <a:srgbClr val="26324A"/>
            </a:solidFill>
            <a:prstDash val="solid"/>
          </a:ln>
        </p:spPr>
      </p:sp>
      <p:sp>
        <p:nvSpPr>
          <p:cNvPr id="19" name="Text 14"/>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γ = 2.0  </a:t>
            </a:r>
            <a:pPr indent="0" marL="0">
              <a:buNone/>
            </a:pPr>
            <a:r>
              <a:rPr lang="en-US" sz="1100" dirty="0">
                <a:solidFill>
                  <a:srgbClr val="9FB3C8"/>
                </a:solidFill>
                <a:latin typeface="Calibri" pitchFamily="34" charset="0"/>
                <a:ea typeface="Calibri" pitchFamily="34" charset="-122"/>
                <a:cs typeface="Calibri" pitchFamily="34" charset="-120"/>
              </a:rPr>
              <a:t>highlights suppressed</a:t>
            </a:r>
            <a:endParaRPr lang="en-US" sz="1100" dirty="0"/>
          </a:p>
        </p:txBody>
      </p:sp>
      <p:pic>
        <p:nvPicPr>
          <p:cNvPr id="20" name="Image 3" descr="crop/log_transform.jpg">    </p:cNvPr>
          <p:cNvPicPr>
            <a:picLocks noChangeAspect="1"/>
          </p:cNvPicPr>
          <p:nvPr/>
        </p:nvPicPr>
        <p:blipFill>
          <a:blip r:embed="rId4"/>
          <a:stretch>
            <a:fillRect/>
          </a:stretch>
        </p:blipFill>
        <p:spPr>
          <a:xfrm>
            <a:off x="8366760" y="4023360"/>
            <a:ext cx="3383280" cy="1828800"/>
          </a:xfrm>
          <a:prstGeom prst="rect">
            <a:avLst/>
          </a:prstGeom>
        </p:spPr>
      </p:pic>
      <p:sp>
        <p:nvSpPr>
          <p:cNvPr id="21" name="Shape 15"/>
          <p:cNvSpPr/>
          <p:nvPr/>
        </p:nvSpPr>
        <p:spPr>
          <a:xfrm>
            <a:off x="8366760" y="4023360"/>
            <a:ext cx="3383280" cy="1828800"/>
          </a:xfrm>
          <a:prstGeom prst="rect">
            <a:avLst/>
          </a:prstGeom>
          <a:ln w="9525">
            <a:solidFill>
              <a:srgbClr val="26324A"/>
            </a:solidFill>
            <a:prstDash val="solid"/>
          </a:ln>
        </p:spPr>
      </p:sp>
      <p:sp>
        <p:nvSpPr>
          <p:cNvPr id="22" name="Text 16"/>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Log  </a:t>
            </a:r>
            <a:pPr indent="0" marL="0">
              <a:buNone/>
            </a:pPr>
            <a:r>
              <a:rPr lang="en-US" sz="1100" dirty="0">
                <a:solidFill>
                  <a:srgbClr val="9FB3C8"/>
                </a:solidFill>
                <a:latin typeface="Calibri" pitchFamily="34" charset="0"/>
                <a:ea typeface="Calibri" pitchFamily="34" charset="-122"/>
                <a:cs typeface="Calibri" pitchFamily="34" charset="-120"/>
              </a:rPr>
              <a:t>expands dark range</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UNIT 4 · HISTOGRAMS</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Spread the grays out, locally</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Global equalization vs CLAHE</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GLOBAL EQUALIZATION</a:t>
            </a:r>
            <a:endParaRPr lang="en-US" sz="1100" dirty="0"/>
          </a:p>
        </p:txBody>
      </p:sp>
      <p:sp>
        <p:nvSpPr>
          <p:cNvPr id="6" name="Text 4"/>
          <p:cNvSpPr txBox="1"/>
          <p:nvPr/>
        </p:nvSpPr>
        <p:spPr>
          <a:xfrm>
            <a:off x="548640" y="1947672"/>
            <a:ext cx="393192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Uses the cumulative histogram to stretch gray levels over the full range. One mapping for the whole page, so noise in flat paper gets stretched too.</a:t>
            </a:r>
            <a:endParaRPr lang="en-US" sz="1400" dirty="0"/>
          </a:p>
        </p:txBody>
      </p:sp>
      <p:sp>
        <p:nvSpPr>
          <p:cNvPr id="7" name="Text 5"/>
          <p:cNvSpPr txBox="1"/>
          <p:nvPr/>
        </p:nvSpPr>
        <p:spPr>
          <a:xfrm>
            <a:off x="548640" y="350215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CLAHE</a:t>
            </a:r>
            <a:endParaRPr lang="en-US" sz="1100" dirty="0"/>
          </a:p>
        </p:txBody>
      </p:sp>
      <p:sp>
        <p:nvSpPr>
          <p:cNvPr id="8" name="Text 6"/>
          <p:cNvSpPr txBox="1"/>
          <p:nvPr/>
        </p:nvSpPr>
        <p:spPr>
          <a:xfrm>
            <a:off x="548640" y="3758184"/>
            <a:ext cx="393192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Splits the page into 8×8 tiles, equalizes each tile, and clips tall histogram bars at 2.0 so noise is not amplified. Tile borders are blended by bilinear interpolation.</a:t>
            </a:r>
            <a:endParaRPr lang="en-US" sz="1400" dirty="0"/>
          </a:p>
        </p:txBody>
      </p:sp>
      <p:pic>
        <p:nvPicPr>
          <p:cNvPr id="9" name="Image 0" descr="crop/grayscale.jpg">    </p:cNvPr>
          <p:cNvPicPr>
            <a:picLocks noChangeAspect="1"/>
          </p:cNvPicPr>
          <p:nvPr/>
        </p:nvPicPr>
        <p:blipFill>
          <a:blip r:embed="rId1"/>
          <a:stretch>
            <a:fillRect/>
          </a:stretch>
        </p:blipFill>
        <p:spPr>
          <a:xfrm>
            <a:off x="4754880" y="1691640"/>
            <a:ext cx="3383280" cy="1828800"/>
          </a:xfrm>
          <a:prstGeom prst="rect">
            <a:avLst/>
          </a:prstGeom>
        </p:spPr>
      </p:pic>
      <p:sp>
        <p:nvSpPr>
          <p:cNvPr id="10" name="Shape 7"/>
          <p:cNvSpPr/>
          <p:nvPr/>
        </p:nvSpPr>
        <p:spPr>
          <a:xfrm>
            <a:off x="4754880" y="1691640"/>
            <a:ext cx="3383280" cy="1828800"/>
          </a:xfrm>
          <a:prstGeom prst="rect">
            <a:avLst/>
          </a:prstGeom>
          <a:ln w="9525">
            <a:solidFill>
              <a:srgbClr val="26324A"/>
            </a:solidFill>
            <a:prstDash val="solid"/>
          </a:ln>
        </p:spPr>
      </p:sp>
      <p:sp>
        <p:nvSpPr>
          <p:cNvPr id="11" name="Text 8"/>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Original  </a:t>
            </a:r>
            <a:pPr indent="0" marL="0">
              <a:buNone/>
            </a:pPr>
            <a:r>
              <a:rPr lang="en-US" sz="1100" dirty="0">
                <a:solidFill>
                  <a:srgbClr val="9FB3C8"/>
                </a:solidFill>
                <a:latin typeface="Calibri" pitchFamily="34" charset="0"/>
                <a:ea typeface="Calibri" pitchFamily="34" charset="-122"/>
                <a:cs typeface="Calibri" pitchFamily="34" charset="-120"/>
              </a:rPr>
              <a:t>low contrast</a:t>
            </a:r>
            <a:endParaRPr lang="en-US" sz="1100" dirty="0"/>
          </a:p>
        </p:txBody>
      </p:sp>
      <p:pic>
        <p:nvPicPr>
          <p:cNvPr id="12" name="Image 1" descr="crop/hist_eq.jpg">    </p:cNvPr>
          <p:cNvPicPr>
            <a:picLocks noChangeAspect="1"/>
          </p:cNvPicPr>
          <p:nvPr/>
        </p:nvPicPr>
        <p:blipFill>
          <a:blip r:embed="rId2"/>
          <a:stretch>
            <a:fillRect/>
          </a:stretch>
        </p:blipFill>
        <p:spPr>
          <a:xfrm>
            <a:off x="8366760" y="1691640"/>
            <a:ext cx="3383280" cy="1828800"/>
          </a:xfrm>
          <a:prstGeom prst="rect">
            <a:avLst/>
          </a:prstGeom>
        </p:spPr>
      </p:pic>
      <p:sp>
        <p:nvSpPr>
          <p:cNvPr id="13" name="Shape 9"/>
          <p:cNvSpPr/>
          <p:nvPr/>
        </p:nvSpPr>
        <p:spPr>
          <a:xfrm>
            <a:off x="8366760" y="1691640"/>
            <a:ext cx="3383280" cy="1828800"/>
          </a:xfrm>
          <a:prstGeom prst="rect">
            <a:avLst/>
          </a:prstGeom>
          <a:ln w="9525">
            <a:solidFill>
              <a:srgbClr val="26324A"/>
            </a:solidFill>
            <a:prstDash val="solid"/>
          </a:ln>
        </p:spPr>
      </p:sp>
      <p:sp>
        <p:nvSpPr>
          <p:cNvPr id="14" name="Text 10"/>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Global HE  </a:t>
            </a:r>
            <a:pPr indent="0" marL="0">
              <a:buNone/>
            </a:pPr>
            <a:r>
              <a:rPr lang="en-US" sz="1100" dirty="0">
                <a:solidFill>
                  <a:srgbClr val="9FB3C8"/>
                </a:solidFill>
                <a:latin typeface="Calibri" pitchFamily="34" charset="0"/>
                <a:ea typeface="Calibri" pitchFamily="34" charset="-122"/>
                <a:cs typeface="Calibri" pitchFamily="34" charset="-120"/>
              </a:rPr>
              <a:t>whole-page mapping</a:t>
            </a:r>
            <a:endParaRPr lang="en-US" sz="1100" dirty="0"/>
          </a:p>
        </p:txBody>
      </p:sp>
      <p:pic>
        <p:nvPicPr>
          <p:cNvPr id="15" name="Image 2" descr="crop/clahe.jpg">    </p:cNvPr>
          <p:cNvPicPr>
            <a:picLocks noChangeAspect="1"/>
          </p:cNvPicPr>
          <p:nvPr/>
        </p:nvPicPr>
        <p:blipFill>
          <a:blip r:embed="rId3"/>
          <a:stretch>
            <a:fillRect/>
          </a:stretch>
        </p:blipFill>
        <p:spPr>
          <a:xfrm>
            <a:off x="4754880" y="4023360"/>
            <a:ext cx="3383280" cy="1828800"/>
          </a:xfrm>
          <a:prstGeom prst="rect">
            <a:avLst/>
          </a:prstGeom>
        </p:spPr>
      </p:pic>
      <p:sp>
        <p:nvSpPr>
          <p:cNvPr id="16" name="Shape 11"/>
          <p:cNvSpPr/>
          <p:nvPr/>
        </p:nvSpPr>
        <p:spPr>
          <a:xfrm>
            <a:off x="4754880" y="4023360"/>
            <a:ext cx="3383280" cy="1828800"/>
          </a:xfrm>
          <a:prstGeom prst="rect">
            <a:avLst/>
          </a:prstGeom>
          <a:ln w="9525">
            <a:solidFill>
              <a:srgbClr val="26324A"/>
            </a:solidFill>
            <a:prstDash val="solid"/>
          </a:ln>
        </p:spPr>
      </p:sp>
      <p:sp>
        <p:nvSpPr>
          <p:cNvPr id="17" name="Text 12"/>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CLAHE  </a:t>
            </a:r>
            <a:pPr indent="0" marL="0">
              <a:buNone/>
            </a:pPr>
            <a:r>
              <a:rPr lang="en-US" sz="1100" dirty="0">
                <a:solidFill>
                  <a:srgbClr val="9FB3C8"/>
                </a:solidFill>
                <a:latin typeface="Calibri" pitchFamily="34" charset="0"/>
                <a:ea typeface="Calibri" pitchFamily="34" charset="-122"/>
                <a:cs typeface="Calibri" pitchFamily="34" charset="-120"/>
              </a:rPr>
              <a:t>clip 2.0, 8×8 tiles</a:t>
            </a:r>
            <a:endParaRPr lang="en-US" sz="1100" dirty="0"/>
          </a:p>
        </p:txBody>
      </p:sp>
      <p:sp>
        <p:nvSpPr>
          <p:cNvPr id="18" name="Shape 13"/>
          <p:cNvSpPr/>
          <p:nvPr/>
        </p:nvSpPr>
        <p:spPr>
          <a:xfrm>
            <a:off x="8366760" y="4023360"/>
            <a:ext cx="3383280" cy="1828800"/>
          </a:xfrm>
          <a:prstGeom prst="roundRect">
            <a:avLst>
              <a:gd name="adj" fmla="val 5000"/>
            </a:avLst>
          </a:prstGeom>
          <a:solidFill>
            <a:srgbClr val="121A2B"/>
          </a:solidFill>
          <a:ln w="12700">
            <a:solidFill>
              <a:srgbClr val="121A2B"/>
            </a:solidFill>
            <a:prstDash val="solid"/>
          </a:ln>
        </p:spPr>
      </p:sp>
      <p:graphicFrame>
        <p:nvGraphicFramePr>
          <p:cNvPr id="19" name="Chart 0" descr=""/>
          <p:cNvGraphicFramePr/>
          <p:nvPr/>
        </p:nvGraphicFramePr>
        <p:xfrm>
          <a:off x="8412480" y="4069080"/>
          <a:ext cx="3291840" cy="1737360"/>
        </p:xfrm>
        <a:graphic xmlns:a="http://schemas.openxmlformats.org/drawingml/2006/main">
          <a:graphicData uri="http://schemas.openxmlformats.org/drawingml/2006/chart">
            <c:chart xmlns:c="http://schemas.openxmlformats.org/drawingml/2006/chart" r:id="rId4"/>
          </a:graphicData>
        </a:graphic>
      </p:graphicFrame>
      <p:sp>
        <p:nvSpPr>
          <p:cNvPr id="20" name="Text 14"/>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Histogram of each result (% of pixels per bin)</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UNIT 5 · SPATIAL FILTERING</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the median beats the average for specks</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A tiny worked example</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THE 3×3 EXAMPLE</a:t>
            </a:r>
            <a:endParaRPr lang="en-US" sz="1100" dirty="0"/>
          </a:p>
        </p:txBody>
      </p:sp>
      <p:sp>
        <p:nvSpPr>
          <p:cNvPr id="6" name="Text 4"/>
          <p:cNvSpPr txBox="1"/>
          <p:nvPr/>
        </p:nvSpPr>
        <p:spPr>
          <a:xfrm>
            <a:off x="548640" y="1947672"/>
            <a:ext cx="3931920" cy="9144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Window values: 12, 14, 255, 13, 11, 0, 15, 12, 14. The 255 and 0 are noise.</a:t>
            </a:r>
            <a:endParaRPr lang="en-US" sz="1400" dirty="0"/>
          </a:p>
        </p:txBody>
      </p:sp>
      <p:sp>
        <p:nvSpPr>
          <p:cNvPr id="7" name="Text 5"/>
          <p:cNvSpPr txBox="1"/>
          <p:nvPr/>
        </p:nvSpPr>
        <p:spPr>
          <a:xfrm>
            <a:off x="548640" y="304495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MEAN (Gaussian-like)</a:t>
            </a:r>
            <a:endParaRPr lang="en-US" sz="1100" dirty="0"/>
          </a:p>
        </p:txBody>
      </p:sp>
      <p:sp>
        <p:nvSpPr>
          <p:cNvPr id="8" name="Text 6"/>
          <p:cNvSpPr txBox="1"/>
          <p:nvPr/>
        </p:nvSpPr>
        <p:spPr>
          <a:xfrm>
            <a:off x="548640" y="3300984"/>
            <a:ext cx="393192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346 ÷ 9 ≈ 38. The speck smears into its neighbours.</a:t>
            </a:r>
            <a:endParaRPr lang="en-US" sz="1400" dirty="0"/>
          </a:p>
        </p:txBody>
      </p:sp>
      <p:sp>
        <p:nvSpPr>
          <p:cNvPr id="9" name="Text 7"/>
          <p:cNvSpPr txBox="1"/>
          <p:nvPr/>
        </p:nvSpPr>
        <p:spPr>
          <a:xfrm>
            <a:off x="548640" y="4123944"/>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MEDIAN</a:t>
            </a:r>
            <a:endParaRPr lang="en-US" sz="1100" dirty="0"/>
          </a:p>
        </p:txBody>
      </p:sp>
      <p:sp>
        <p:nvSpPr>
          <p:cNvPr id="10" name="Text 8"/>
          <p:cNvSpPr txBox="1"/>
          <p:nvPr/>
        </p:nvSpPr>
        <p:spPr>
          <a:xfrm>
            <a:off x="548640" y="4379976"/>
            <a:ext cx="393192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Sort, take the middle: 0, 11, 12, 12, 13, 14, 14, 15, 255 → 13. The speck vanishes.</a:t>
            </a:r>
            <a:endParaRPr lang="en-US" sz="1400" dirty="0"/>
          </a:p>
        </p:txBody>
      </p:sp>
      <p:sp>
        <p:nvSpPr>
          <p:cNvPr id="11" name="Shape 9"/>
          <p:cNvSpPr/>
          <p:nvPr/>
        </p:nvSpPr>
        <p:spPr>
          <a:xfrm>
            <a:off x="548640" y="5257800"/>
            <a:ext cx="3931920" cy="1005840"/>
          </a:xfrm>
          <a:prstGeom prst="roundRect">
            <a:avLst>
              <a:gd name="adj" fmla="val 9091"/>
            </a:avLst>
          </a:prstGeom>
          <a:solidFill>
            <a:srgbClr val="121A2B"/>
          </a:solidFill>
          <a:ln w="12700">
            <a:solidFill>
              <a:srgbClr val="06B6D4"/>
            </a:solidFill>
            <a:prstDash val="solid"/>
          </a:ln>
        </p:spPr>
      </p:sp>
      <p:sp>
        <p:nvSpPr>
          <p:cNvPr id="12" name="Text 10"/>
          <p:cNvSpPr txBox="1"/>
          <p:nvPr/>
        </p:nvSpPr>
        <p:spPr>
          <a:xfrm>
            <a:off x="731520" y="5349240"/>
            <a:ext cx="3566160" cy="82296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Bilateral = spatial distance × intensity difference, so it smooths flat paper but keeps edges</a:t>
            </a:r>
            <a:endParaRPr lang="en-US" sz="1300" dirty="0"/>
          </a:p>
        </p:txBody>
      </p:sp>
      <p:pic>
        <p:nvPicPr>
          <p:cNvPr id="13" name="Image 0" descr="crop/grayscale.jpg">    </p:cNvPr>
          <p:cNvPicPr>
            <a:picLocks noChangeAspect="1"/>
          </p:cNvPicPr>
          <p:nvPr/>
        </p:nvPicPr>
        <p:blipFill>
          <a:blip r:embed="rId1"/>
          <a:stretch>
            <a:fillRect/>
          </a:stretch>
        </p:blipFill>
        <p:spPr>
          <a:xfrm>
            <a:off x="4754880" y="1691640"/>
            <a:ext cx="3383280" cy="1828800"/>
          </a:xfrm>
          <a:prstGeom prst="rect">
            <a:avLst/>
          </a:prstGeom>
        </p:spPr>
      </p:pic>
      <p:sp>
        <p:nvSpPr>
          <p:cNvPr id="14" name="Shape 11"/>
          <p:cNvSpPr/>
          <p:nvPr/>
        </p:nvSpPr>
        <p:spPr>
          <a:xfrm>
            <a:off x="4754880" y="1691640"/>
            <a:ext cx="3383280" cy="1828800"/>
          </a:xfrm>
          <a:prstGeom prst="rect">
            <a:avLst/>
          </a:prstGeom>
          <a:ln w="9525">
            <a:solidFill>
              <a:srgbClr val="26324A"/>
            </a:solidFill>
            <a:prstDash val="solid"/>
          </a:ln>
        </p:spPr>
      </p:sp>
      <p:sp>
        <p:nvSpPr>
          <p:cNvPr id="15" name="Text 12"/>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Noisy input  </a:t>
            </a:r>
            <a:pPr indent="0" marL="0">
              <a:buNone/>
            </a:pPr>
            <a:r>
              <a:rPr lang="en-US" sz="1100" dirty="0">
                <a:solidFill>
                  <a:srgbClr val="9FB3C8"/>
                </a:solidFill>
                <a:latin typeface="Calibri" pitchFamily="34" charset="0"/>
                <a:ea typeface="Calibri" pitchFamily="34" charset="-122"/>
                <a:cs typeface="Calibri" pitchFamily="34" charset="-120"/>
              </a:rPr>
              <a:t>specks on letters</a:t>
            </a:r>
            <a:endParaRPr lang="en-US" sz="1100" dirty="0"/>
          </a:p>
        </p:txBody>
      </p:sp>
      <p:pic>
        <p:nvPicPr>
          <p:cNvPr id="16" name="Image 1" descr="crop/gaussian_blur.jpg">    </p:cNvPr>
          <p:cNvPicPr>
            <a:picLocks noChangeAspect="1"/>
          </p:cNvPicPr>
          <p:nvPr/>
        </p:nvPicPr>
        <p:blipFill>
          <a:blip r:embed="rId2"/>
          <a:stretch>
            <a:fillRect/>
          </a:stretch>
        </p:blipFill>
        <p:spPr>
          <a:xfrm>
            <a:off x="8366760" y="1691640"/>
            <a:ext cx="3383280" cy="1828800"/>
          </a:xfrm>
          <a:prstGeom prst="rect">
            <a:avLst/>
          </a:prstGeom>
        </p:spPr>
      </p:pic>
      <p:sp>
        <p:nvSpPr>
          <p:cNvPr id="17" name="Shape 13"/>
          <p:cNvSpPr/>
          <p:nvPr/>
        </p:nvSpPr>
        <p:spPr>
          <a:xfrm>
            <a:off x="8366760" y="1691640"/>
            <a:ext cx="3383280" cy="1828800"/>
          </a:xfrm>
          <a:prstGeom prst="rect">
            <a:avLst/>
          </a:prstGeom>
          <a:ln w="9525">
            <a:solidFill>
              <a:srgbClr val="26324A"/>
            </a:solidFill>
            <a:prstDash val="solid"/>
          </a:ln>
        </p:spPr>
      </p:sp>
      <p:sp>
        <p:nvSpPr>
          <p:cNvPr id="18" name="Text 14"/>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Gaussian 7×7  </a:t>
            </a:r>
            <a:pPr indent="0" marL="0">
              <a:buNone/>
            </a:pPr>
            <a:r>
              <a:rPr lang="en-US" sz="1100" dirty="0">
                <a:solidFill>
                  <a:srgbClr val="9FB3C8"/>
                </a:solidFill>
                <a:latin typeface="Calibri" pitchFamily="34" charset="0"/>
                <a:ea typeface="Calibri" pitchFamily="34" charset="-122"/>
                <a:cs typeface="Calibri" pitchFamily="34" charset="-120"/>
              </a:rPr>
              <a:t>specks blurred, text softened</a:t>
            </a:r>
            <a:endParaRPr lang="en-US" sz="1100" dirty="0"/>
          </a:p>
        </p:txBody>
      </p:sp>
      <p:pic>
        <p:nvPicPr>
          <p:cNvPr id="19" name="Image 2" descr="crop/median_filter.jpg">    </p:cNvPr>
          <p:cNvPicPr>
            <a:picLocks noChangeAspect="1"/>
          </p:cNvPicPr>
          <p:nvPr/>
        </p:nvPicPr>
        <p:blipFill>
          <a:blip r:embed="rId3"/>
          <a:stretch>
            <a:fillRect/>
          </a:stretch>
        </p:blipFill>
        <p:spPr>
          <a:xfrm>
            <a:off x="4754880" y="4023360"/>
            <a:ext cx="3383280" cy="1828800"/>
          </a:xfrm>
          <a:prstGeom prst="rect">
            <a:avLst/>
          </a:prstGeom>
        </p:spPr>
      </p:pic>
      <p:sp>
        <p:nvSpPr>
          <p:cNvPr id="20" name="Shape 15"/>
          <p:cNvSpPr/>
          <p:nvPr/>
        </p:nvSpPr>
        <p:spPr>
          <a:xfrm>
            <a:off x="4754880" y="4023360"/>
            <a:ext cx="3383280" cy="1828800"/>
          </a:xfrm>
          <a:prstGeom prst="rect">
            <a:avLst/>
          </a:prstGeom>
          <a:ln w="9525">
            <a:solidFill>
              <a:srgbClr val="26324A"/>
            </a:solidFill>
            <a:prstDash val="solid"/>
          </a:ln>
        </p:spPr>
      </p:sp>
      <p:sp>
        <p:nvSpPr>
          <p:cNvPr id="21" name="Text 16"/>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Median 5×5  </a:t>
            </a:r>
            <a:pPr indent="0" marL="0">
              <a:buNone/>
            </a:pPr>
            <a:r>
              <a:rPr lang="en-US" sz="1100" dirty="0">
                <a:solidFill>
                  <a:srgbClr val="9FB3C8"/>
                </a:solidFill>
                <a:latin typeface="Calibri" pitchFamily="34" charset="0"/>
                <a:ea typeface="Calibri" pitchFamily="34" charset="-122"/>
                <a:cs typeface="Calibri" pitchFamily="34" charset="-120"/>
              </a:rPr>
              <a:t>specks removed, edges kept</a:t>
            </a:r>
            <a:endParaRPr lang="en-US" sz="1100" dirty="0"/>
          </a:p>
        </p:txBody>
      </p:sp>
      <p:pic>
        <p:nvPicPr>
          <p:cNvPr id="22" name="Image 3" descr="crop/bilateral.jpg">    </p:cNvPr>
          <p:cNvPicPr>
            <a:picLocks noChangeAspect="1"/>
          </p:cNvPicPr>
          <p:nvPr/>
        </p:nvPicPr>
        <p:blipFill>
          <a:blip r:embed="rId4"/>
          <a:stretch>
            <a:fillRect/>
          </a:stretch>
        </p:blipFill>
        <p:spPr>
          <a:xfrm>
            <a:off x="8366760" y="4023360"/>
            <a:ext cx="3383280" cy="1828800"/>
          </a:xfrm>
          <a:prstGeom prst="rect">
            <a:avLst/>
          </a:prstGeom>
        </p:spPr>
      </p:pic>
      <p:sp>
        <p:nvSpPr>
          <p:cNvPr id="23" name="Shape 17"/>
          <p:cNvSpPr/>
          <p:nvPr/>
        </p:nvSpPr>
        <p:spPr>
          <a:xfrm>
            <a:off x="8366760" y="4023360"/>
            <a:ext cx="3383280" cy="1828800"/>
          </a:xfrm>
          <a:prstGeom prst="rect">
            <a:avLst/>
          </a:prstGeom>
          <a:ln w="9525">
            <a:solidFill>
              <a:srgbClr val="26324A"/>
            </a:solidFill>
            <a:prstDash val="solid"/>
          </a:ln>
        </p:spPr>
      </p:sp>
      <p:sp>
        <p:nvSpPr>
          <p:cNvPr id="24" name="Text 18"/>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Bilateral  </a:t>
            </a:r>
            <a:pPr indent="0" marL="0">
              <a:buNone/>
            </a:pPr>
            <a:r>
              <a:rPr lang="en-US" sz="1100" dirty="0">
                <a:solidFill>
                  <a:srgbClr val="9FB3C8"/>
                </a:solidFill>
                <a:latin typeface="Calibri" pitchFamily="34" charset="0"/>
                <a:ea typeface="Calibri" pitchFamily="34" charset="-122"/>
                <a:cs typeface="Calibri" pitchFamily="34" charset="-120"/>
              </a:rPr>
              <a:t>edge-preserving smoothing</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UNIT 6 · EDGES</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Finding where brightness changes fast</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Gradient operators measure how steep the change is</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FIRST ORDER</a:t>
            </a:r>
            <a:endParaRPr lang="en-US" sz="1100" dirty="0"/>
          </a:p>
        </p:txBody>
      </p:sp>
      <p:sp>
        <p:nvSpPr>
          <p:cNvPr id="6" name="Text 4"/>
          <p:cNvSpPr txBox="1"/>
          <p:nvPr/>
        </p:nvSpPr>
        <p:spPr>
          <a:xfrm>
            <a:off x="548640" y="1947672"/>
            <a:ext cx="393192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Sobel and Prewitt combine Gx and Gy masks into a gradient magnitude.</a:t>
            </a:r>
            <a:endParaRPr lang="en-US" sz="1400" dirty="0"/>
          </a:p>
        </p:txBody>
      </p:sp>
      <p:sp>
        <p:nvSpPr>
          <p:cNvPr id="7" name="Text 5"/>
          <p:cNvSpPr txBox="1"/>
          <p:nvPr/>
        </p:nvSpPr>
        <p:spPr>
          <a:xfrm>
            <a:off x="548640" y="286207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SECOND ORDER</a:t>
            </a:r>
            <a:endParaRPr lang="en-US" sz="1100" dirty="0"/>
          </a:p>
        </p:txBody>
      </p:sp>
      <p:sp>
        <p:nvSpPr>
          <p:cNvPr id="8" name="Text 6"/>
          <p:cNvSpPr txBox="1"/>
          <p:nvPr/>
        </p:nvSpPr>
        <p:spPr>
          <a:xfrm>
            <a:off x="548640" y="3118104"/>
            <a:ext cx="3931920" cy="10058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LoG marks zero crossings of the second derivative. It needs a blur first or noise explodes.</a:t>
            </a:r>
            <a:endParaRPr lang="en-US" sz="1400" dirty="0"/>
          </a:p>
        </p:txBody>
      </p:sp>
      <p:sp>
        <p:nvSpPr>
          <p:cNvPr id="9" name="Text 7"/>
          <p:cNvSpPr txBox="1"/>
          <p:nvPr/>
        </p:nvSpPr>
        <p:spPr>
          <a:xfrm>
            <a:off x="548640" y="4306824"/>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CANNY</a:t>
            </a:r>
            <a:endParaRPr lang="en-US" sz="1100" dirty="0"/>
          </a:p>
        </p:txBody>
      </p:sp>
      <p:sp>
        <p:nvSpPr>
          <p:cNvPr id="10" name="Text 8"/>
          <p:cNvSpPr txBox="1"/>
          <p:nvPr/>
        </p:nvSpPr>
        <p:spPr>
          <a:xfrm>
            <a:off x="548640" y="4562856"/>
            <a:ext cx="3931920" cy="9144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Gradient, thin to 1 pixel, keep strong edges plus weak ones linked to them (50 / 150).</a:t>
            </a:r>
            <a:endParaRPr lang="en-US" sz="1400" dirty="0"/>
          </a:p>
        </p:txBody>
      </p:sp>
      <p:sp>
        <p:nvSpPr>
          <p:cNvPr id="11" name="Shape 9"/>
          <p:cNvSpPr/>
          <p:nvPr/>
        </p:nvSpPr>
        <p:spPr>
          <a:xfrm>
            <a:off x="548640" y="5715000"/>
            <a:ext cx="3931920" cy="548640"/>
          </a:xfrm>
          <a:prstGeom prst="roundRect">
            <a:avLst>
              <a:gd name="adj" fmla="val 16667"/>
            </a:avLst>
          </a:prstGeom>
          <a:solidFill>
            <a:srgbClr val="121A2B"/>
          </a:solidFill>
          <a:ln w="12700">
            <a:solidFill>
              <a:srgbClr val="06B6D4"/>
            </a:solidFill>
            <a:prstDash val="solid"/>
          </a:ln>
        </p:spPr>
      </p:sp>
      <p:sp>
        <p:nvSpPr>
          <p:cNvPr id="12" name="Text 10"/>
          <p:cNvSpPr txBox="1"/>
          <p:nvPr/>
        </p:nvSpPr>
        <p:spPr>
          <a:xfrm>
            <a:off x="731520" y="5806440"/>
            <a:ext cx="3566160" cy="36576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|∇f| = √(Gx² + Gy²)</a:t>
            </a:r>
            <a:endParaRPr lang="en-US" sz="1300" dirty="0"/>
          </a:p>
        </p:txBody>
      </p:sp>
      <p:pic>
        <p:nvPicPr>
          <p:cNvPr id="13" name="Image 0" descr="crop/sobel_combined.jpg">    </p:cNvPr>
          <p:cNvPicPr>
            <a:picLocks noChangeAspect="1"/>
          </p:cNvPicPr>
          <p:nvPr/>
        </p:nvPicPr>
        <p:blipFill>
          <a:blip r:embed="rId1"/>
          <a:stretch>
            <a:fillRect/>
          </a:stretch>
        </p:blipFill>
        <p:spPr>
          <a:xfrm>
            <a:off x="4754880" y="1691640"/>
            <a:ext cx="3383280" cy="1828800"/>
          </a:xfrm>
          <a:prstGeom prst="rect">
            <a:avLst/>
          </a:prstGeom>
        </p:spPr>
      </p:pic>
      <p:sp>
        <p:nvSpPr>
          <p:cNvPr id="14" name="Shape 11"/>
          <p:cNvSpPr/>
          <p:nvPr/>
        </p:nvSpPr>
        <p:spPr>
          <a:xfrm>
            <a:off x="4754880" y="1691640"/>
            <a:ext cx="3383280" cy="1828800"/>
          </a:xfrm>
          <a:prstGeom prst="rect">
            <a:avLst/>
          </a:prstGeom>
          <a:ln w="9525">
            <a:solidFill>
              <a:srgbClr val="26324A"/>
            </a:solidFill>
            <a:prstDash val="solid"/>
          </a:ln>
        </p:spPr>
      </p:sp>
      <p:sp>
        <p:nvSpPr>
          <p:cNvPr id="15" name="Text 12"/>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Sobel  </a:t>
            </a:r>
            <a:pPr indent="0" marL="0">
              <a:buNone/>
            </a:pPr>
            <a:r>
              <a:rPr lang="en-US" sz="1100" dirty="0">
                <a:solidFill>
                  <a:srgbClr val="9FB3C8"/>
                </a:solidFill>
                <a:latin typeface="Calibri" pitchFamily="34" charset="0"/>
                <a:ea typeface="Calibri" pitchFamily="34" charset="-122"/>
                <a:cs typeface="Calibri" pitchFamily="34" charset="-120"/>
              </a:rPr>
              <a:t>magnitude, noise shows up</a:t>
            </a:r>
            <a:endParaRPr lang="en-US" sz="1100" dirty="0"/>
          </a:p>
        </p:txBody>
      </p:sp>
      <p:pic>
        <p:nvPicPr>
          <p:cNvPr id="16" name="Image 1" descr="crop/prewitt.jpg">    </p:cNvPr>
          <p:cNvPicPr>
            <a:picLocks noChangeAspect="1"/>
          </p:cNvPicPr>
          <p:nvPr/>
        </p:nvPicPr>
        <p:blipFill>
          <a:blip r:embed="rId2"/>
          <a:stretch>
            <a:fillRect/>
          </a:stretch>
        </p:blipFill>
        <p:spPr>
          <a:xfrm>
            <a:off x="8366760" y="1691640"/>
            <a:ext cx="3383280" cy="1828800"/>
          </a:xfrm>
          <a:prstGeom prst="rect">
            <a:avLst/>
          </a:prstGeom>
        </p:spPr>
      </p:pic>
      <p:sp>
        <p:nvSpPr>
          <p:cNvPr id="17" name="Shape 13"/>
          <p:cNvSpPr/>
          <p:nvPr/>
        </p:nvSpPr>
        <p:spPr>
          <a:xfrm>
            <a:off x="8366760" y="1691640"/>
            <a:ext cx="3383280" cy="1828800"/>
          </a:xfrm>
          <a:prstGeom prst="rect">
            <a:avLst/>
          </a:prstGeom>
          <a:ln w="9525">
            <a:solidFill>
              <a:srgbClr val="26324A"/>
            </a:solidFill>
            <a:prstDash val="solid"/>
          </a:ln>
        </p:spPr>
      </p:sp>
      <p:sp>
        <p:nvSpPr>
          <p:cNvPr id="18" name="Text 14"/>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Prewitt  </a:t>
            </a:r>
            <a:pPr indent="0" marL="0">
              <a:buNone/>
            </a:pPr>
            <a:r>
              <a:rPr lang="en-US" sz="1100" dirty="0">
                <a:solidFill>
                  <a:srgbClr val="9FB3C8"/>
                </a:solidFill>
                <a:latin typeface="Calibri" pitchFamily="34" charset="0"/>
                <a:ea typeface="Calibri" pitchFamily="34" charset="-122"/>
                <a:cs typeface="Calibri" pitchFamily="34" charset="-120"/>
              </a:rPr>
              <a:t>unweighted masks</a:t>
            </a:r>
            <a:endParaRPr lang="en-US" sz="1100" dirty="0"/>
          </a:p>
        </p:txBody>
      </p:sp>
      <p:pic>
        <p:nvPicPr>
          <p:cNvPr id="19" name="Image 2" descr="crop/laplacian.jpg">    </p:cNvPr>
          <p:cNvPicPr>
            <a:picLocks noChangeAspect="1"/>
          </p:cNvPicPr>
          <p:nvPr/>
        </p:nvPicPr>
        <p:blipFill>
          <a:blip r:embed="rId3"/>
          <a:stretch>
            <a:fillRect/>
          </a:stretch>
        </p:blipFill>
        <p:spPr>
          <a:xfrm>
            <a:off x="4754880" y="4023360"/>
            <a:ext cx="3383280" cy="1828800"/>
          </a:xfrm>
          <a:prstGeom prst="rect">
            <a:avLst/>
          </a:prstGeom>
        </p:spPr>
      </p:pic>
      <p:sp>
        <p:nvSpPr>
          <p:cNvPr id="20" name="Shape 15"/>
          <p:cNvSpPr/>
          <p:nvPr/>
        </p:nvSpPr>
        <p:spPr>
          <a:xfrm>
            <a:off x="4754880" y="4023360"/>
            <a:ext cx="3383280" cy="1828800"/>
          </a:xfrm>
          <a:prstGeom prst="rect">
            <a:avLst/>
          </a:prstGeom>
          <a:ln w="9525">
            <a:solidFill>
              <a:srgbClr val="26324A"/>
            </a:solidFill>
            <a:prstDash val="solid"/>
          </a:ln>
        </p:spPr>
      </p:sp>
      <p:sp>
        <p:nvSpPr>
          <p:cNvPr id="21" name="Text 16"/>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LoG  </a:t>
            </a:r>
            <a:pPr indent="0" marL="0">
              <a:buNone/>
            </a:pPr>
            <a:r>
              <a:rPr lang="en-US" sz="1100" dirty="0">
                <a:solidFill>
                  <a:srgbClr val="9FB3C8"/>
                </a:solidFill>
                <a:latin typeface="Calibri" pitchFamily="34" charset="0"/>
                <a:ea typeface="Calibri" pitchFamily="34" charset="-122"/>
                <a:cs typeface="Calibri" pitchFamily="34" charset="-120"/>
              </a:rPr>
              <a:t>second derivative</a:t>
            </a:r>
            <a:endParaRPr lang="en-US" sz="1100" dirty="0"/>
          </a:p>
        </p:txBody>
      </p:sp>
      <p:pic>
        <p:nvPicPr>
          <p:cNvPr id="22" name="Image 3" descr="crop/canny.jpg">    </p:cNvPr>
          <p:cNvPicPr>
            <a:picLocks noChangeAspect="1"/>
          </p:cNvPicPr>
          <p:nvPr/>
        </p:nvPicPr>
        <p:blipFill>
          <a:blip r:embed="rId4"/>
          <a:stretch>
            <a:fillRect/>
          </a:stretch>
        </p:blipFill>
        <p:spPr>
          <a:xfrm>
            <a:off x="8366760" y="4023360"/>
            <a:ext cx="3383280" cy="1828800"/>
          </a:xfrm>
          <a:prstGeom prst="rect">
            <a:avLst/>
          </a:prstGeom>
        </p:spPr>
      </p:pic>
      <p:sp>
        <p:nvSpPr>
          <p:cNvPr id="23" name="Shape 17"/>
          <p:cNvSpPr/>
          <p:nvPr/>
        </p:nvSpPr>
        <p:spPr>
          <a:xfrm>
            <a:off x="8366760" y="4023360"/>
            <a:ext cx="3383280" cy="1828800"/>
          </a:xfrm>
          <a:prstGeom prst="rect">
            <a:avLst/>
          </a:prstGeom>
          <a:ln w="9525">
            <a:solidFill>
              <a:srgbClr val="26324A"/>
            </a:solidFill>
            <a:prstDash val="solid"/>
          </a:ln>
        </p:spPr>
      </p:sp>
      <p:sp>
        <p:nvSpPr>
          <p:cNvPr id="24" name="Text 18"/>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Canny  </a:t>
            </a:r>
            <a:pPr indent="0" marL="0">
              <a:buNone/>
            </a:pPr>
            <a:r>
              <a:rPr lang="en-US" sz="1100" dirty="0">
                <a:solidFill>
                  <a:srgbClr val="9FB3C8"/>
                </a:solidFill>
                <a:latin typeface="Calibri" pitchFamily="34" charset="0"/>
                <a:ea typeface="Calibri" pitchFamily="34" charset="-122"/>
                <a:cs typeface="Calibri" pitchFamily="34" charset="-120"/>
              </a:rPr>
              <a:t>thin, connected edges</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UNIT 7 · SEGMENTATION</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Deciding what is ink and what is paper</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One global cut-off vs a cut-off for every neighbourhood</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GLOBAL</a:t>
            </a:r>
            <a:endParaRPr lang="en-US" sz="1100" dirty="0"/>
          </a:p>
        </p:txBody>
      </p:sp>
      <p:sp>
        <p:nvSpPr>
          <p:cNvPr id="6" name="Text 4"/>
          <p:cNvSpPr txBox="1"/>
          <p:nvPr/>
        </p:nvSpPr>
        <p:spPr>
          <a:xfrm>
            <a:off x="548640" y="1947672"/>
            <a:ext cx="3931920" cy="15544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 fixed T = 127, or Otsu, which picks the T that best separates two groups. Fine when lighting is even, fails when shadows drift across the page.</a:t>
            </a:r>
            <a:endParaRPr lang="en-US" sz="1400" dirty="0"/>
          </a:p>
        </p:txBody>
      </p:sp>
      <p:sp>
        <p:nvSpPr>
          <p:cNvPr id="7" name="Text 5"/>
          <p:cNvSpPr txBox="1"/>
          <p:nvPr/>
        </p:nvSpPr>
        <p:spPr>
          <a:xfrm>
            <a:off x="548640" y="368503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LOCAL ADAPTIVE</a:t>
            </a:r>
            <a:endParaRPr lang="en-US" sz="1100" dirty="0"/>
          </a:p>
        </p:txBody>
      </p:sp>
      <p:sp>
        <p:nvSpPr>
          <p:cNvPr id="8" name="Text 6"/>
          <p:cNvSpPr txBox="1"/>
          <p:nvPr/>
        </p:nvSpPr>
        <p:spPr>
          <a:xfrm>
            <a:off x="548640" y="3941064"/>
            <a:ext cx="3931920" cy="15544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Each pixel is compared with a Gaussian-weighted average of its 31×31 neighbourhood, minus 10. Shadows move the average too, so text survives.</a:t>
            </a:r>
            <a:endParaRPr lang="en-US" sz="1400" dirty="0"/>
          </a:p>
        </p:txBody>
      </p:sp>
      <p:sp>
        <p:nvSpPr>
          <p:cNvPr id="9" name="Shape 7"/>
          <p:cNvSpPr/>
          <p:nvPr/>
        </p:nvSpPr>
        <p:spPr>
          <a:xfrm>
            <a:off x="548640" y="5257800"/>
            <a:ext cx="3931920" cy="1005840"/>
          </a:xfrm>
          <a:prstGeom prst="roundRect">
            <a:avLst>
              <a:gd name="adj" fmla="val 9091"/>
            </a:avLst>
          </a:prstGeom>
          <a:solidFill>
            <a:srgbClr val="121A2B"/>
          </a:solidFill>
          <a:ln w="12700">
            <a:solidFill>
              <a:srgbClr val="06B6D4"/>
            </a:solidFill>
            <a:prstDash val="solid"/>
          </a:ln>
        </p:spPr>
      </p:sp>
      <p:sp>
        <p:nvSpPr>
          <p:cNvPr id="10" name="Text 8"/>
          <p:cNvSpPr txBox="1"/>
          <p:nvPr/>
        </p:nvSpPr>
        <p:spPr>
          <a:xfrm>
            <a:off x="731520" y="5349240"/>
            <a:ext cx="3566160" cy="82296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Otsu: maximize σB²(t) = ω₀ω₁(μ₀ − μ₁)²</a:t>
            </a:r>
            <a:endParaRPr lang="en-US" sz="1300" dirty="0"/>
          </a:p>
          <a:p>
            <a:pPr indent="0" marL="0">
              <a:buNone/>
            </a:pPr>
            <a:r>
              <a:rPr lang="en-US" sz="1300" dirty="0">
                <a:solidFill>
                  <a:srgbClr val="FFFFFF"/>
                </a:solidFill>
                <a:latin typeface="Cambria" pitchFamily="34" charset="0"/>
                <a:ea typeface="Cambria" pitchFamily="34" charset="-122"/>
                <a:cs typeface="Cambria" pitchFamily="34" charset="-120"/>
              </a:rPr>
              <a:t>Adaptive: T(x,y) = local mean − C</a:t>
            </a:r>
            <a:endParaRPr lang="en-US" sz="1300" dirty="0"/>
          </a:p>
        </p:txBody>
      </p:sp>
      <p:pic>
        <p:nvPicPr>
          <p:cNvPr id="11" name="Image 0" descr="crop/binary.jpg">    </p:cNvPr>
          <p:cNvPicPr>
            <a:picLocks noChangeAspect="1"/>
          </p:cNvPicPr>
          <p:nvPr/>
        </p:nvPicPr>
        <p:blipFill>
          <a:blip r:embed="rId1"/>
          <a:stretch>
            <a:fillRect/>
          </a:stretch>
        </p:blipFill>
        <p:spPr>
          <a:xfrm>
            <a:off x="4754880" y="1691640"/>
            <a:ext cx="3383280" cy="1828800"/>
          </a:xfrm>
          <a:prstGeom prst="rect">
            <a:avLst/>
          </a:prstGeom>
        </p:spPr>
      </p:pic>
      <p:sp>
        <p:nvSpPr>
          <p:cNvPr id="12" name="Shape 9"/>
          <p:cNvSpPr/>
          <p:nvPr/>
        </p:nvSpPr>
        <p:spPr>
          <a:xfrm>
            <a:off x="4754880" y="1691640"/>
            <a:ext cx="3383280" cy="1828800"/>
          </a:xfrm>
          <a:prstGeom prst="rect">
            <a:avLst/>
          </a:prstGeom>
          <a:ln w="9525">
            <a:solidFill>
              <a:srgbClr val="26324A"/>
            </a:solidFill>
            <a:prstDash val="solid"/>
          </a:ln>
        </p:spPr>
      </p:sp>
      <p:sp>
        <p:nvSpPr>
          <p:cNvPr id="13" name="Text 10"/>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Fixed T = 127  </a:t>
            </a:r>
            <a:pPr indent="0" marL="0">
              <a:buNone/>
            </a:pPr>
            <a:r>
              <a:rPr lang="en-US" sz="1100" dirty="0">
                <a:solidFill>
                  <a:srgbClr val="9FB3C8"/>
                </a:solidFill>
                <a:latin typeface="Calibri" pitchFamily="34" charset="0"/>
                <a:ea typeface="Calibri" pitchFamily="34" charset="-122"/>
                <a:cs typeface="Calibri" pitchFamily="34" charset="-120"/>
              </a:rPr>
              <a:t>simplest baseline</a:t>
            </a:r>
            <a:endParaRPr lang="en-US" sz="1100" dirty="0"/>
          </a:p>
        </p:txBody>
      </p:sp>
      <p:pic>
        <p:nvPicPr>
          <p:cNvPr id="14" name="Image 1" descr="crop/otsu.jpg">    </p:cNvPr>
          <p:cNvPicPr>
            <a:picLocks noChangeAspect="1"/>
          </p:cNvPicPr>
          <p:nvPr/>
        </p:nvPicPr>
        <p:blipFill>
          <a:blip r:embed="rId2"/>
          <a:stretch>
            <a:fillRect/>
          </a:stretch>
        </p:blipFill>
        <p:spPr>
          <a:xfrm>
            <a:off x="8366760" y="1691640"/>
            <a:ext cx="3383280" cy="1828800"/>
          </a:xfrm>
          <a:prstGeom prst="rect">
            <a:avLst/>
          </a:prstGeom>
        </p:spPr>
      </p:pic>
      <p:sp>
        <p:nvSpPr>
          <p:cNvPr id="15" name="Shape 11"/>
          <p:cNvSpPr/>
          <p:nvPr/>
        </p:nvSpPr>
        <p:spPr>
          <a:xfrm>
            <a:off x="8366760" y="1691640"/>
            <a:ext cx="3383280" cy="1828800"/>
          </a:xfrm>
          <a:prstGeom prst="rect">
            <a:avLst/>
          </a:prstGeom>
          <a:ln w="9525">
            <a:solidFill>
              <a:srgbClr val="26324A"/>
            </a:solidFill>
            <a:prstDash val="solid"/>
          </a:ln>
        </p:spPr>
      </p:sp>
      <p:sp>
        <p:nvSpPr>
          <p:cNvPr id="16" name="Text 12"/>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Otsu  </a:t>
            </a:r>
            <a:pPr indent="0" marL="0">
              <a:buNone/>
            </a:pPr>
            <a:r>
              <a:rPr lang="en-US" sz="1100" dirty="0">
                <a:solidFill>
                  <a:srgbClr val="9FB3C8"/>
                </a:solidFill>
                <a:latin typeface="Calibri" pitchFamily="34" charset="0"/>
                <a:ea typeface="Calibri" pitchFamily="34" charset="-122"/>
                <a:cs typeface="Calibri" pitchFamily="34" charset="-120"/>
              </a:rPr>
              <a:t>global, automatic T</a:t>
            </a:r>
            <a:endParaRPr lang="en-US" sz="1100" dirty="0"/>
          </a:p>
        </p:txBody>
      </p:sp>
      <p:pic>
        <p:nvPicPr>
          <p:cNvPr id="17" name="Image 2" descr="crop/adaptive_gaussian.jpg">    </p:cNvPr>
          <p:cNvPicPr>
            <a:picLocks noChangeAspect="1"/>
          </p:cNvPicPr>
          <p:nvPr/>
        </p:nvPicPr>
        <p:blipFill>
          <a:blip r:embed="rId3"/>
          <a:stretch>
            <a:fillRect/>
          </a:stretch>
        </p:blipFill>
        <p:spPr>
          <a:xfrm>
            <a:off x="4754880" y="4023360"/>
            <a:ext cx="3383280" cy="1828800"/>
          </a:xfrm>
          <a:prstGeom prst="rect">
            <a:avLst/>
          </a:prstGeom>
        </p:spPr>
      </p:pic>
      <p:sp>
        <p:nvSpPr>
          <p:cNvPr id="18" name="Shape 13"/>
          <p:cNvSpPr/>
          <p:nvPr/>
        </p:nvSpPr>
        <p:spPr>
          <a:xfrm>
            <a:off x="4754880" y="4023360"/>
            <a:ext cx="3383280" cy="1828800"/>
          </a:xfrm>
          <a:prstGeom prst="rect">
            <a:avLst/>
          </a:prstGeom>
          <a:ln w="9525">
            <a:solidFill>
              <a:srgbClr val="26324A"/>
            </a:solidFill>
            <a:prstDash val="solid"/>
          </a:ln>
        </p:spPr>
      </p:sp>
      <p:sp>
        <p:nvSpPr>
          <p:cNvPr id="19" name="Text 14"/>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Adaptive Gaussian  </a:t>
            </a:r>
            <a:pPr indent="0" marL="0">
              <a:buNone/>
            </a:pPr>
            <a:r>
              <a:rPr lang="en-US" sz="1100" dirty="0">
                <a:solidFill>
                  <a:srgbClr val="9FB3C8"/>
                </a:solidFill>
                <a:latin typeface="Calibri" pitchFamily="34" charset="0"/>
                <a:ea typeface="Calibri" pitchFamily="34" charset="-122"/>
                <a:cs typeface="Calibri" pitchFamily="34" charset="-120"/>
              </a:rPr>
              <a:t>31×31 window, C = 10</a:t>
            </a:r>
            <a:endParaRPr lang="en-US" sz="1100" dirty="0"/>
          </a:p>
        </p:txBody>
      </p:sp>
      <p:pic>
        <p:nvPicPr>
          <p:cNvPr id="20" name="Image 3" descr="crop/adaptive_mean.jpg">    </p:cNvPr>
          <p:cNvPicPr>
            <a:picLocks noChangeAspect="1"/>
          </p:cNvPicPr>
          <p:nvPr/>
        </p:nvPicPr>
        <p:blipFill>
          <a:blip r:embed="rId4"/>
          <a:stretch>
            <a:fillRect/>
          </a:stretch>
        </p:blipFill>
        <p:spPr>
          <a:xfrm>
            <a:off x="8366760" y="4023360"/>
            <a:ext cx="3383280" cy="1828800"/>
          </a:xfrm>
          <a:prstGeom prst="rect">
            <a:avLst/>
          </a:prstGeom>
        </p:spPr>
      </p:pic>
      <p:sp>
        <p:nvSpPr>
          <p:cNvPr id="21" name="Shape 15"/>
          <p:cNvSpPr/>
          <p:nvPr/>
        </p:nvSpPr>
        <p:spPr>
          <a:xfrm>
            <a:off x="8366760" y="4023360"/>
            <a:ext cx="3383280" cy="1828800"/>
          </a:xfrm>
          <a:prstGeom prst="rect">
            <a:avLst/>
          </a:prstGeom>
          <a:ln w="9525">
            <a:solidFill>
              <a:srgbClr val="26324A"/>
            </a:solidFill>
            <a:prstDash val="solid"/>
          </a:ln>
        </p:spPr>
      </p:sp>
      <p:sp>
        <p:nvSpPr>
          <p:cNvPr id="22" name="Text 16"/>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Adaptive Mean  </a:t>
            </a:r>
            <a:pPr indent="0" marL="0">
              <a:buNone/>
            </a:pPr>
            <a:r>
              <a:rPr lang="en-US" sz="1100" dirty="0">
                <a:solidFill>
                  <a:srgbClr val="9FB3C8"/>
                </a:solidFill>
                <a:latin typeface="Calibri" pitchFamily="34" charset="0"/>
                <a:ea typeface="Calibri" pitchFamily="34" charset="-122"/>
                <a:cs typeface="Calibri" pitchFamily="34" charset="-120"/>
              </a:rPr>
              <a:t>plain average window</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MORPHOLOGY</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Reshaping the binary text with a small stencil</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A 3×3 structuring element slides over the image</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THE BASICS</a:t>
            </a:r>
            <a:endParaRPr lang="en-US" sz="1100" dirty="0"/>
          </a:p>
        </p:txBody>
      </p:sp>
      <p:sp>
        <p:nvSpPr>
          <p:cNvPr id="6" name="Text 4"/>
          <p:cNvSpPr txBox="1"/>
          <p:nvPr/>
        </p:nvSpPr>
        <p:spPr>
          <a:xfrm>
            <a:off x="548640" y="1947672"/>
            <a:ext cx="393192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Dilation grows white regions, erosion shrinks them. Opening (erode then dilate) deletes small specks. Closing (dilate then erode) fills small gaps.</a:t>
            </a:r>
            <a:endParaRPr lang="en-US" sz="1400" dirty="0"/>
          </a:p>
        </p:txBody>
      </p:sp>
      <p:sp>
        <p:nvSpPr>
          <p:cNvPr id="7" name="Text 5"/>
          <p:cNvSpPr txBox="1"/>
          <p:nvPr/>
        </p:nvSpPr>
        <p:spPr>
          <a:xfrm>
            <a:off x="548640" y="359359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WATCH THE DIRECTION</a:t>
            </a:r>
            <a:endParaRPr lang="en-US" sz="1100" dirty="0"/>
          </a:p>
        </p:txBody>
      </p:sp>
      <p:sp>
        <p:nvSpPr>
          <p:cNvPr id="8" name="Text 6"/>
          <p:cNvSpPr txBox="1"/>
          <p:nvPr/>
        </p:nvSpPr>
        <p:spPr>
          <a:xfrm>
            <a:off x="548640" y="3849624"/>
            <a:ext cx="3931920" cy="12801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Our text is dark on white. Dilating the white background therefore makes the ink look thinner, and erosion makes it look bolder.</a:t>
            </a:r>
            <a:endParaRPr lang="en-US" sz="1400" dirty="0"/>
          </a:p>
        </p:txBody>
      </p:sp>
      <p:sp>
        <p:nvSpPr>
          <p:cNvPr id="9" name="Shape 7"/>
          <p:cNvSpPr/>
          <p:nvPr/>
        </p:nvSpPr>
        <p:spPr>
          <a:xfrm>
            <a:off x="548640" y="5349240"/>
            <a:ext cx="3931920" cy="914400"/>
          </a:xfrm>
          <a:prstGeom prst="roundRect">
            <a:avLst>
              <a:gd name="adj" fmla="val 10000"/>
            </a:avLst>
          </a:prstGeom>
          <a:solidFill>
            <a:srgbClr val="121A2B"/>
          </a:solidFill>
          <a:ln w="12700">
            <a:solidFill>
              <a:srgbClr val="06B6D4"/>
            </a:solidFill>
            <a:prstDash val="solid"/>
          </a:ln>
        </p:spPr>
      </p:sp>
      <p:sp>
        <p:nvSpPr>
          <p:cNvPr id="10" name="Text 8"/>
          <p:cNvSpPr txBox="1"/>
          <p:nvPr/>
        </p:nvSpPr>
        <p:spPr>
          <a:xfrm>
            <a:off x="731520" y="5440680"/>
            <a:ext cx="3566160" cy="73152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Opening: A ∘ B = (A ⊖ B) ⊕ B</a:t>
            </a:r>
            <a:endParaRPr lang="en-US" sz="1300" dirty="0"/>
          </a:p>
          <a:p>
            <a:pPr indent="0" marL="0">
              <a:buNone/>
            </a:pPr>
            <a:r>
              <a:rPr lang="en-US" sz="1300" dirty="0">
                <a:solidFill>
                  <a:srgbClr val="FFFFFF"/>
                </a:solidFill>
                <a:latin typeface="Cambria" pitchFamily="34" charset="0"/>
                <a:ea typeface="Cambria" pitchFamily="34" charset="-122"/>
                <a:cs typeface="Cambria" pitchFamily="34" charset="-120"/>
              </a:rPr>
              <a:t>Closing: A • B = (A ⊕ B) ⊖ B</a:t>
            </a:r>
            <a:endParaRPr lang="en-US" sz="1300" dirty="0"/>
          </a:p>
        </p:txBody>
      </p:sp>
      <p:pic>
        <p:nvPicPr>
          <p:cNvPr id="11" name="Image 0" descr="crop/dilation.jpg">    </p:cNvPr>
          <p:cNvPicPr>
            <a:picLocks noChangeAspect="1"/>
          </p:cNvPicPr>
          <p:nvPr/>
        </p:nvPicPr>
        <p:blipFill>
          <a:blip r:embed="rId1"/>
          <a:stretch>
            <a:fillRect/>
          </a:stretch>
        </p:blipFill>
        <p:spPr>
          <a:xfrm>
            <a:off x="4754880" y="1691640"/>
            <a:ext cx="3383280" cy="1828800"/>
          </a:xfrm>
          <a:prstGeom prst="rect">
            <a:avLst/>
          </a:prstGeom>
        </p:spPr>
      </p:pic>
      <p:sp>
        <p:nvSpPr>
          <p:cNvPr id="12" name="Shape 9"/>
          <p:cNvSpPr/>
          <p:nvPr/>
        </p:nvSpPr>
        <p:spPr>
          <a:xfrm>
            <a:off x="4754880" y="1691640"/>
            <a:ext cx="3383280" cy="1828800"/>
          </a:xfrm>
          <a:prstGeom prst="rect">
            <a:avLst/>
          </a:prstGeom>
          <a:ln w="9525">
            <a:solidFill>
              <a:srgbClr val="26324A"/>
            </a:solidFill>
            <a:prstDash val="solid"/>
          </a:ln>
        </p:spPr>
      </p:sp>
      <p:sp>
        <p:nvSpPr>
          <p:cNvPr id="13" name="Text 10"/>
          <p:cNvSpPr txBox="1"/>
          <p:nvPr/>
        </p:nvSpPr>
        <p:spPr>
          <a:xfrm>
            <a:off x="475488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Dilation  </a:t>
            </a:r>
            <a:pPr indent="0" marL="0">
              <a:buNone/>
            </a:pPr>
            <a:r>
              <a:rPr lang="en-US" sz="1100" dirty="0">
                <a:solidFill>
                  <a:srgbClr val="9FB3C8"/>
                </a:solidFill>
                <a:latin typeface="Calibri" pitchFamily="34" charset="0"/>
                <a:ea typeface="Calibri" pitchFamily="34" charset="-122"/>
                <a:cs typeface="Calibri" pitchFamily="34" charset="-120"/>
              </a:rPr>
              <a:t>white grows, ink thins</a:t>
            </a:r>
            <a:endParaRPr lang="en-US" sz="1100" dirty="0"/>
          </a:p>
        </p:txBody>
      </p:sp>
      <p:pic>
        <p:nvPicPr>
          <p:cNvPr id="14" name="Image 1" descr="crop/erosion.jpg">    </p:cNvPr>
          <p:cNvPicPr>
            <a:picLocks noChangeAspect="1"/>
          </p:cNvPicPr>
          <p:nvPr/>
        </p:nvPicPr>
        <p:blipFill>
          <a:blip r:embed="rId2"/>
          <a:stretch>
            <a:fillRect/>
          </a:stretch>
        </p:blipFill>
        <p:spPr>
          <a:xfrm>
            <a:off x="8366760" y="1691640"/>
            <a:ext cx="3383280" cy="1828800"/>
          </a:xfrm>
          <a:prstGeom prst="rect">
            <a:avLst/>
          </a:prstGeom>
        </p:spPr>
      </p:pic>
      <p:sp>
        <p:nvSpPr>
          <p:cNvPr id="15" name="Shape 11"/>
          <p:cNvSpPr/>
          <p:nvPr/>
        </p:nvSpPr>
        <p:spPr>
          <a:xfrm>
            <a:off x="8366760" y="1691640"/>
            <a:ext cx="3383280" cy="1828800"/>
          </a:xfrm>
          <a:prstGeom prst="rect">
            <a:avLst/>
          </a:prstGeom>
          <a:ln w="9525">
            <a:solidFill>
              <a:srgbClr val="26324A"/>
            </a:solidFill>
            <a:prstDash val="solid"/>
          </a:ln>
        </p:spPr>
      </p:sp>
      <p:sp>
        <p:nvSpPr>
          <p:cNvPr id="16" name="Text 12"/>
          <p:cNvSpPr txBox="1"/>
          <p:nvPr/>
        </p:nvSpPr>
        <p:spPr>
          <a:xfrm>
            <a:off x="8366760" y="356616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Erosion  </a:t>
            </a:r>
            <a:pPr indent="0" marL="0">
              <a:buNone/>
            </a:pPr>
            <a:r>
              <a:rPr lang="en-US" sz="1100" dirty="0">
                <a:solidFill>
                  <a:srgbClr val="9FB3C8"/>
                </a:solidFill>
                <a:latin typeface="Calibri" pitchFamily="34" charset="0"/>
                <a:ea typeface="Calibri" pitchFamily="34" charset="-122"/>
                <a:cs typeface="Calibri" pitchFamily="34" charset="-120"/>
              </a:rPr>
              <a:t>white shrinks, ink thickens</a:t>
            </a:r>
            <a:endParaRPr lang="en-US" sz="1100" dirty="0"/>
          </a:p>
        </p:txBody>
      </p:sp>
      <p:pic>
        <p:nvPicPr>
          <p:cNvPr id="17" name="Image 2" descr="crop/opening.jpg">    </p:cNvPr>
          <p:cNvPicPr>
            <a:picLocks noChangeAspect="1"/>
          </p:cNvPicPr>
          <p:nvPr/>
        </p:nvPicPr>
        <p:blipFill>
          <a:blip r:embed="rId3"/>
          <a:stretch>
            <a:fillRect/>
          </a:stretch>
        </p:blipFill>
        <p:spPr>
          <a:xfrm>
            <a:off x="4754880" y="4023360"/>
            <a:ext cx="3383280" cy="1828800"/>
          </a:xfrm>
          <a:prstGeom prst="rect">
            <a:avLst/>
          </a:prstGeom>
        </p:spPr>
      </p:pic>
      <p:sp>
        <p:nvSpPr>
          <p:cNvPr id="18" name="Shape 13"/>
          <p:cNvSpPr/>
          <p:nvPr/>
        </p:nvSpPr>
        <p:spPr>
          <a:xfrm>
            <a:off x="4754880" y="4023360"/>
            <a:ext cx="3383280" cy="1828800"/>
          </a:xfrm>
          <a:prstGeom prst="rect">
            <a:avLst/>
          </a:prstGeom>
          <a:ln w="9525">
            <a:solidFill>
              <a:srgbClr val="26324A"/>
            </a:solidFill>
            <a:prstDash val="solid"/>
          </a:ln>
        </p:spPr>
      </p:sp>
      <p:sp>
        <p:nvSpPr>
          <p:cNvPr id="19" name="Text 14"/>
          <p:cNvSpPr txBox="1"/>
          <p:nvPr/>
        </p:nvSpPr>
        <p:spPr>
          <a:xfrm>
            <a:off x="475488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Opening  </a:t>
            </a:r>
            <a:pPr indent="0" marL="0">
              <a:buNone/>
            </a:pPr>
            <a:r>
              <a:rPr lang="en-US" sz="1100" dirty="0">
                <a:solidFill>
                  <a:srgbClr val="9FB3C8"/>
                </a:solidFill>
                <a:latin typeface="Calibri" pitchFamily="34" charset="0"/>
                <a:ea typeface="Calibri" pitchFamily="34" charset="-122"/>
                <a:cs typeface="Calibri" pitchFamily="34" charset="-120"/>
              </a:rPr>
              <a:t>removes isolated specks</a:t>
            </a:r>
            <a:endParaRPr lang="en-US" sz="1100" dirty="0"/>
          </a:p>
        </p:txBody>
      </p:sp>
      <p:pic>
        <p:nvPicPr>
          <p:cNvPr id="20" name="Image 3" descr="crop/closing.jpg">    </p:cNvPr>
          <p:cNvPicPr>
            <a:picLocks noChangeAspect="1"/>
          </p:cNvPicPr>
          <p:nvPr/>
        </p:nvPicPr>
        <p:blipFill>
          <a:blip r:embed="rId4"/>
          <a:stretch>
            <a:fillRect/>
          </a:stretch>
        </p:blipFill>
        <p:spPr>
          <a:xfrm>
            <a:off x="8366760" y="4023360"/>
            <a:ext cx="3383280" cy="1828800"/>
          </a:xfrm>
          <a:prstGeom prst="rect">
            <a:avLst/>
          </a:prstGeom>
        </p:spPr>
      </p:pic>
      <p:sp>
        <p:nvSpPr>
          <p:cNvPr id="21" name="Shape 15"/>
          <p:cNvSpPr/>
          <p:nvPr/>
        </p:nvSpPr>
        <p:spPr>
          <a:xfrm>
            <a:off x="8366760" y="4023360"/>
            <a:ext cx="3383280" cy="1828800"/>
          </a:xfrm>
          <a:prstGeom prst="rect">
            <a:avLst/>
          </a:prstGeom>
          <a:ln w="9525">
            <a:solidFill>
              <a:srgbClr val="26324A"/>
            </a:solidFill>
            <a:prstDash val="solid"/>
          </a:ln>
        </p:spPr>
      </p:sp>
      <p:sp>
        <p:nvSpPr>
          <p:cNvPr id="22" name="Text 16"/>
          <p:cNvSpPr txBox="1"/>
          <p:nvPr/>
        </p:nvSpPr>
        <p:spPr>
          <a:xfrm>
            <a:off x="8366760" y="5897880"/>
            <a:ext cx="33832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Closing  </a:t>
            </a:r>
            <a:pPr indent="0" marL="0">
              <a:buNone/>
            </a:pPr>
            <a:r>
              <a:rPr lang="en-US" sz="1100" dirty="0">
                <a:solidFill>
                  <a:srgbClr val="9FB3C8"/>
                </a:solidFill>
                <a:latin typeface="Calibri" pitchFamily="34" charset="0"/>
                <a:ea typeface="Calibri" pitchFamily="34" charset="-122"/>
                <a:cs typeface="Calibri" pitchFamily="34" charset="-120"/>
              </a:rPr>
              <a:t>bridges small gaps</a:t>
            </a:r>
            <a:endParaRPr lang="en-US" sz="11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FREQUENCY DOMAIN</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Seeing the image as waves</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The 2D DFT splits an image into slow and fast variation</a:t>
            </a:r>
            <a:endParaRPr lang="en-US" sz="1600" dirty="0"/>
          </a:p>
        </p:txBody>
      </p:sp>
      <p:sp>
        <p:nvSpPr>
          <p:cNvPr id="5" name="Text 3"/>
          <p:cNvSpPr txBox="1"/>
          <p:nvPr/>
        </p:nvSpPr>
        <p:spPr>
          <a:xfrm>
            <a:off x="548640" y="1691640"/>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WHAT HAPPENS</a:t>
            </a:r>
            <a:endParaRPr lang="en-US" sz="1100" dirty="0"/>
          </a:p>
        </p:txBody>
      </p:sp>
      <p:sp>
        <p:nvSpPr>
          <p:cNvPr id="6" name="Text 4"/>
          <p:cNvSpPr txBox="1"/>
          <p:nvPr/>
        </p:nvSpPr>
        <p:spPr>
          <a:xfrm>
            <a:off x="548640" y="1947672"/>
            <a:ext cx="3931920" cy="15544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The FFT turns the page into frequencies. After centring, low frequencies (smooth paper) are near the middle and high frequencies (edges, noise) are far out.</a:t>
            </a:r>
            <a:endParaRPr lang="en-US" sz="1400" dirty="0"/>
          </a:p>
        </p:txBody>
      </p:sp>
      <p:sp>
        <p:nvSpPr>
          <p:cNvPr id="7" name="Text 5"/>
          <p:cNvSpPr txBox="1"/>
          <p:nvPr/>
        </p:nvSpPr>
        <p:spPr>
          <a:xfrm>
            <a:off x="548640" y="3685032"/>
            <a:ext cx="3931920" cy="22860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FILTERING</a:t>
            </a:r>
            <a:endParaRPr lang="en-US" sz="1100" dirty="0"/>
          </a:p>
        </p:txBody>
      </p:sp>
      <p:sp>
        <p:nvSpPr>
          <p:cNvPr id="8" name="Text 6"/>
          <p:cNvSpPr txBox="1"/>
          <p:nvPr/>
        </p:nvSpPr>
        <p:spPr>
          <a:xfrm>
            <a:off x="548640" y="3941064"/>
            <a:ext cx="393192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Zero a circle in the middle and invert: only edges remain (high-pass). Keep only the circle: a blurred page (low-pass).</a:t>
            </a:r>
            <a:endParaRPr lang="en-US" sz="1400" dirty="0"/>
          </a:p>
        </p:txBody>
      </p:sp>
      <p:sp>
        <p:nvSpPr>
          <p:cNvPr id="9" name="Shape 7"/>
          <p:cNvSpPr/>
          <p:nvPr/>
        </p:nvSpPr>
        <p:spPr>
          <a:xfrm>
            <a:off x="548640" y="5623560"/>
            <a:ext cx="3931920" cy="640080"/>
          </a:xfrm>
          <a:prstGeom prst="roundRect">
            <a:avLst>
              <a:gd name="adj" fmla="val 14286"/>
            </a:avLst>
          </a:prstGeom>
          <a:solidFill>
            <a:srgbClr val="121A2B"/>
          </a:solidFill>
          <a:ln w="12700">
            <a:solidFill>
              <a:srgbClr val="06B6D4"/>
            </a:solidFill>
            <a:prstDash val="solid"/>
          </a:ln>
        </p:spPr>
      </p:sp>
      <p:sp>
        <p:nvSpPr>
          <p:cNvPr id="10" name="Text 8"/>
          <p:cNvSpPr txBox="1"/>
          <p:nvPr/>
        </p:nvSpPr>
        <p:spPr>
          <a:xfrm>
            <a:off x="731520" y="5715000"/>
            <a:ext cx="3566160" cy="457200"/>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Spectrum = 20 · log(|F(u,v)| + 1)</a:t>
            </a:r>
            <a:endParaRPr lang="en-US" sz="1300" dirty="0"/>
          </a:p>
        </p:txBody>
      </p:sp>
      <p:pic>
        <p:nvPicPr>
          <p:cNvPr id="11" name="Image 0" descr="crop/full_dft.jpg">    </p:cNvPr>
          <p:cNvPicPr>
            <a:picLocks noChangeAspect="1"/>
          </p:cNvPicPr>
          <p:nvPr/>
        </p:nvPicPr>
        <p:blipFill>
          <a:blip r:embed="rId1"/>
          <a:stretch>
            <a:fillRect/>
          </a:stretch>
        </p:blipFill>
        <p:spPr>
          <a:xfrm>
            <a:off x="4572000" y="1691640"/>
            <a:ext cx="2286000" cy="3611880"/>
          </a:xfrm>
          <a:prstGeom prst="rect">
            <a:avLst/>
          </a:prstGeom>
        </p:spPr>
      </p:pic>
      <p:sp>
        <p:nvSpPr>
          <p:cNvPr id="12" name="Text 9"/>
          <p:cNvSpPr txBox="1"/>
          <p:nvPr/>
        </p:nvSpPr>
        <p:spPr>
          <a:xfrm>
            <a:off x="4572000" y="5394960"/>
            <a:ext cx="228600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Log spectrum  </a:t>
            </a:r>
            <a:pPr indent="0" marL="0">
              <a:buNone/>
            </a:pPr>
            <a:r>
              <a:rPr lang="en-US" sz="1200" dirty="0">
                <a:solidFill>
                  <a:srgbClr val="9FB3C8"/>
                </a:solidFill>
                <a:latin typeface="Calibri" pitchFamily="34" charset="0"/>
                <a:ea typeface="Calibri" pitchFamily="34" charset="-122"/>
                <a:cs typeface="Calibri" pitchFamily="34" charset="-120"/>
              </a:rPr>
              <a:t>centred</a:t>
            </a:r>
            <a:endParaRPr lang="en-US" sz="1200" dirty="0"/>
          </a:p>
        </p:txBody>
      </p:sp>
      <p:pic>
        <p:nvPicPr>
          <p:cNvPr id="13" name="Image 1" descr="crop/full_dft_highpass.jpg">    </p:cNvPr>
          <p:cNvPicPr>
            <a:picLocks noChangeAspect="1"/>
          </p:cNvPicPr>
          <p:nvPr/>
        </p:nvPicPr>
        <p:blipFill>
          <a:blip r:embed="rId2"/>
          <a:stretch>
            <a:fillRect/>
          </a:stretch>
        </p:blipFill>
        <p:spPr>
          <a:xfrm>
            <a:off x="6995160" y="1691640"/>
            <a:ext cx="2286000" cy="3611880"/>
          </a:xfrm>
          <a:prstGeom prst="rect">
            <a:avLst/>
          </a:prstGeom>
        </p:spPr>
      </p:pic>
      <p:sp>
        <p:nvSpPr>
          <p:cNvPr id="14" name="Text 10"/>
          <p:cNvSpPr txBox="1"/>
          <p:nvPr/>
        </p:nvSpPr>
        <p:spPr>
          <a:xfrm>
            <a:off x="6995160" y="5394960"/>
            <a:ext cx="228600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High-pass  </a:t>
            </a:r>
            <a:pPr indent="0" marL="0">
              <a:buNone/>
            </a:pPr>
            <a:r>
              <a:rPr lang="en-US" sz="1200" dirty="0">
                <a:solidFill>
                  <a:srgbClr val="9FB3C8"/>
                </a:solidFill>
                <a:latin typeface="Calibri" pitchFamily="34" charset="0"/>
                <a:ea typeface="Calibri" pitchFamily="34" charset="-122"/>
                <a:cs typeface="Calibri" pitchFamily="34" charset="-120"/>
              </a:rPr>
              <a:t>edges only</a:t>
            </a:r>
            <a:endParaRPr lang="en-US" sz="1200" dirty="0"/>
          </a:p>
        </p:txBody>
      </p:sp>
      <p:pic>
        <p:nvPicPr>
          <p:cNvPr id="15" name="Image 2" descr="crop/full_dft_lowpass.jpg">    </p:cNvPr>
          <p:cNvPicPr>
            <a:picLocks noChangeAspect="1"/>
          </p:cNvPicPr>
          <p:nvPr/>
        </p:nvPicPr>
        <p:blipFill>
          <a:blip r:embed="rId3"/>
          <a:stretch>
            <a:fillRect/>
          </a:stretch>
        </p:blipFill>
        <p:spPr>
          <a:xfrm>
            <a:off x="9418320" y="1691640"/>
            <a:ext cx="2286000" cy="3611880"/>
          </a:xfrm>
          <a:prstGeom prst="rect">
            <a:avLst/>
          </a:prstGeom>
        </p:spPr>
      </p:pic>
      <p:sp>
        <p:nvSpPr>
          <p:cNvPr id="16" name="Text 11"/>
          <p:cNvSpPr txBox="1"/>
          <p:nvPr/>
        </p:nvSpPr>
        <p:spPr>
          <a:xfrm>
            <a:off x="9418320" y="5394960"/>
            <a:ext cx="2286000"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Low-pass  </a:t>
            </a:r>
            <a:pPr indent="0" marL="0">
              <a:buNone/>
            </a:pPr>
            <a:r>
              <a:rPr lang="en-US" sz="1200" dirty="0">
                <a:solidFill>
                  <a:srgbClr val="9FB3C8"/>
                </a:solidFill>
                <a:latin typeface="Calibri" pitchFamily="34" charset="0"/>
                <a:ea typeface="Calibri" pitchFamily="34" charset="-122"/>
                <a:cs typeface="Calibri" pitchFamily="34" charset="-120"/>
              </a:rPr>
              <a:t>smooth, blurred</a:t>
            </a:r>
            <a:endParaRPr lang="en-US" sz="12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THE MASTER ENGINE</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Six steps from noisy scan to 2× restored page</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Every step is chosen to fix one defect without hurting the others</a:t>
            </a:r>
            <a:endParaRPr lang="en-US" sz="1600" dirty="0"/>
          </a:p>
        </p:txBody>
      </p:sp>
      <p:sp>
        <p:nvSpPr>
          <p:cNvPr id="5" name="Shape 3"/>
          <p:cNvSpPr/>
          <p:nvPr/>
        </p:nvSpPr>
        <p:spPr>
          <a:xfrm>
            <a:off x="548640" y="1645920"/>
            <a:ext cx="1737360" cy="1188720"/>
          </a:xfrm>
          <a:prstGeom prst="roundRect">
            <a:avLst>
              <a:gd name="adj" fmla="val 7692"/>
            </a:avLst>
          </a:prstGeom>
          <a:solidFill>
            <a:srgbClr val="121A2B"/>
          </a:solidFill>
          <a:ln w="12700">
            <a:solidFill>
              <a:srgbClr val="06B6D4"/>
            </a:solidFill>
            <a:prstDash val="solid"/>
          </a:ln>
        </p:spPr>
      </p:sp>
      <p:sp>
        <p:nvSpPr>
          <p:cNvPr id="6" name="Text 4"/>
          <p:cNvSpPr txBox="1"/>
          <p:nvPr/>
        </p:nvSpPr>
        <p:spPr>
          <a:xfrm>
            <a:off x="640080" y="1719072"/>
            <a:ext cx="36576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40080" y="1993392"/>
            <a:ext cx="1554480" cy="36576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2× Lanczos-4 upscale</a:t>
            </a:r>
            <a:endParaRPr lang="en-US" sz="1300" dirty="0"/>
          </a:p>
        </p:txBody>
      </p:sp>
      <p:sp>
        <p:nvSpPr>
          <p:cNvPr id="8" name="Text 6"/>
          <p:cNvSpPr txBox="1"/>
          <p:nvPr/>
        </p:nvSpPr>
        <p:spPr>
          <a:xfrm>
            <a:off x="640080" y="2359152"/>
            <a:ext cx="1554480" cy="41148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more pixels first</a:t>
            </a:r>
            <a:endParaRPr lang="en-US" sz="1100" dirty="0"/>
          </a:p>
        </p:txBody>
      </p:sp>
      <p:sp>
        <p:nvSpPr>
          <p:cNvPr id="9" name="Shape 7"/>
          <p:cNvSpPr/>
          <p:nvPr/>
        </p:nvSpPr>
        <p:spPr>
          <a:xfrm>
            <a:off x="2423160" y="1645920"/>
            <a:ext cx="1737360" cy="1188720"/>
          </a:xfrm>
          <a:prstGeom prst="roundRect">
            <a:avLst>
              <a:gd name="adj" fmla="val 7692"/>
            </a:avLst>
          </a:prstGeom>
          <a:solidFill>
            <a:srgbClr val="121A2B"/>
          </a:solidFill>
          <a:ln w="12700">
            <a:solidFill>
              <a:srgbClr val="06B6D4"/>
            </a:solidFill>
            <a:prstDash val="solid"/>
          </a:ln>
        </p:spPr>
      </p:sp>
      <p:sp>
        <p:nvSpPr>
          <p:cNvPr id="10" name="Text 8"/>
          <p:cNvSpPr txBox="1"/>
          <p:nvPr/>
        </p:nvSpPr>
        <p:spPr>
          <a:xfrm>
            <a:off x="2514600" y="1719072"/>
            <a:ext cx="36576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2514600" y="1993392"/>
            <a:ext cx="1554480" cy="36576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Median 3×3</a:t>
            </a:r>
            <a:endParaRPr lang="en-US" sz="1300" dirty="0"/>
          </a:p>
        </p:txBody>
      </p:sp>
      <p:sp>
        <p:nvSpPr>
          <p:cNvPr id="12" name="Text 10"/>
          <p:cNvSpPr txBox="1"/>
          <p:nvPr/>
        </p:nvSpPr>
        <p:spPr>
          <a:xfrm>
            <a:off x="2514600" y="2359152"/>
            <a:ext cx="1554480" cy="41148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kills specks</a:t>
            </a:r>
            <a:endParaRPr lang="en-US" sz="1100" dirty="0"/>
          </a:p>
        </p:txBody>
      </p:sp>
      <p:sp>
        <p:nvSpPr>
          <p:cNvPr id="13" name="Shape 11"/>
          <p:cNvSpPr/>
          <p:nvPr/>
        </p:nvSpPr>
        <p:spPr>
          <a:xfrm>
            <a:off x="4297680" y="1645920"/>
            <a:ext cx="1737360" cy="1188720"/>
          </a:xfrm>
          <a:prstGeom prst="roundRect">
            <a:avLst>
              <a:gd name="adj" fmla="val 7692"/>
            </a:avLst>
          </a:prstGeom>
          <a:solidFill>
            <a:srgbClr val="121A2B"/>
          </a:solidFill>
          <a:ln w="12700">
            <a:solidFill>
              <a:srgbClr val="06B6D4"/>
            </a:solidFill>
            <a:prstDash val="solid"/>
          </a:ln>
        </p:spPr>
      </p:sp>
      <p:sp>
        <p:nvSpPr>
          <p:cNvPr id="14" name="Text 12"/>
          <p:cNvSpPr txBox="1"/>
          <p:nvPr/>
        </p:nvSpPr>
        <p:spPr>
          <a:xfrm>
            <a:off x="4389120" y="1719072"/>
            <a:ext cx="36576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4389120" y="1993392"/>
            <a:ext cx="1554480" cy="36576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LAB split</a:t>
            </a:r>
            <a:endParaRPr lang="en-US" sz="1300" dirty="0"/>
          </a:p>
        </p:txBody>
      </p:sp>
      <p:sp>
        <p:nvSpPr>
          <p:cNvPr id="16" name="Text 14"/>
          <p:cNvSpPr txBox="1"/>
          <p:nvPr/>
        </p:nvSpPr>
        <p:spPr>
          <a:xfrm>
            <a:off x="4389120" y="2359152"/>
            <a:ext cx="1554480" cy="41148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work on brightness only</a:t>
            </a:r>
            <a:endParaRPr lang="en-US" sz="1100" dirty="0"/>
          </a:p>
        </p:txBody>
      </p:sp>
      <p:sp>
        <p:nvSpPr>
          <p:cNvPr id="17" name="Shape 15"/>
          <p:cNvSpPr/>
          <p:nvPr/>
        </p:nvSpPr>
        <p:spPr>
          <a:xfrm>
            <a:off x="6172200" y="1645920"/>
            <a:ext cx="1737360" cy="1188720"/>
          </a:xfrm>
          <a:prstGeom prst="roundRect">
            <a:avLst>
              <a:gd name="adj" fmla="val 7692"/>
            </a:avLst>
          </a:prstGeom>
          <a:solidFill>
            <a:srgbClr val="121A2B"/>
          </a:solidFill>
          <a:ln w="12700">
            <a:solidFill>
              <a:srgbClr val="06B6D4"/>
            </a:solidFill>
            <a:prstDash val="solid"/>
          </a:ln>
        </p:spPr>
      </p:sp>
      <p:sp>
        <p:nvSpPr>
          <p:cNvPr id="18" name="Text 16"/>
          <p:cNvSpPr txBox="1"/>
          <p:nvPr/>
        </p:nvSpPr>
        <p:spPr>
          <a:xfrm>
            <a:off x="6263640" y="1719072"/>
            <a:ext cx="36576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6263640" y="1993392"/>
            <a:ext cx="1554480" cy="36576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Bilateral</a:t>
            </a:r>
            <a:endParaRPr lang="en-US" sz="1300" dirty="0"/>
          </a:p>
        </p:txBody>
      </p:sp>
      <p:sp>
        <p:nvSpPr>
          <p:cNvPr id="20" name="Text 18"/>
          <p:cNvSpPr txBox="1"/>
          <p:nvPr/>
        </p:nvSpPr>
        <p:spPr>
          <a:xfrm>
            <a:off x="6263640" y="2359152"/>
            <a:ext cx="1554480" cy="41148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smooth paper, keep edges</a:t>
            </a:r>
            <a:endParaRPr lang="en-US" sz="1100" dirty="0"/>
          </a:p>
        </p:txBody>
      </p:sp>
      <p:sp>
        <p:nvSpPr>
          <p:cNvPr id="21" name="Shape 19"/>
          <p:cNvSpPr/>
          <p:nvPr/>
        </p:nvSpPr>
        <p:spPr>
          <a:xfrm>
            <a:off x="8046720" y="1645920"/>
            <a:ext cx="1737360" cy="1188720"/>
          </a:xfrm>
          <a:prstGeom prst="roundRect">
            <a:avLst>
              <a:gd name="adj" fmla="val 7692"/>
            </a:avLst>
          </a:prstGeom>
          <a:solidFill>
            <a:srgbClr val="121A2B"/>
          </a:solidFill>
          <a:ln w="12700">
            <a:solidFill>
              <a:srgbClr val="06B6D4"/>
            </a:solidFill>
            <a:prstDash val="solid"/>
          </a:ln>
        </p:spPr>
      </p:sp>
      <p:sp>
        <p:nvSpPr>
          <p:cNvPr id="22" name="Text 20"/>
          <p:cNvSpPr txBox="1"/>
          <p:nvPr/>
        </p:nvSpPr>
        <p:spPr>
          <a:xfrm>
            <a:off x="8138160" y="1719072"/>
            <a:ext cx="36576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8138160" y="1993392"/>
            <a:ext cx="1554480" cy="36576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CLAHE 2.2</a:t>
            </a:r>
            <a:endParaRPr lang="en-US" sz="1300" dirty="0"/>
          </a:p>
        </p:txBody>
      </p:sp>
      <p:sp>
        <p:nvSpPr>
          <p:cNvPr id="24" name="Text 22"/>
          <p:cNvSpPr txBox="1"/>
          <p:nvPr/>
        </p:nvSpPr>
        <p:spPr>
          <a:xfrm>
            <a:off x="8138160" y="2359152"/>
            <a:ext cx="1554480" cy="41148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even out contrast</a:t>
            </a:r>
            <a:endParaRPr lang="en-US" sz="1100" dirty="0"/>
          </a:p>
        </p:txBody>
      </p:sp>
      <p:sp>
        <p:nvSpPr>
          <p:cNvPr id="25" name="Shape 23"/>
          <p:cNvSpPr/>
          <p:nvPr/>
        </p:nvSpPr>
        <p:spPr>
          <a:xfrm>
            <a:off x="9921240" y="1645920"/>
            <a:ext cx="1737360" cy="1188720"/>
          </a:xfrm>
          <a:prstGeom prst="roundRect">
            <a:avLst>
              <a:gd name="adj" fmla="val 7692"/>
            </a:avLst>
          </a:prstGeom>
          <a:solidFill>
            <a:srgbClr val="121A2B"/>
          </a:solidFill>
          <a:ln w="12700">
            <a:solidFill>
              <a:srgbClr val="F59E0B"/>
            </a:solidFill>
            <a:prstDash val="solid"/>
          </a:ln>
        </p:spPr>
      </p:sp>
      <p:sp>
        <p:nvSpPr>
          <p:cNvPr id="26" name="Text 24"/>
          <p:cNvSpPr txBox="1"/>
          <p:nvPr/>
        </p:nvSpPr>
        <p:spPr>
          <a:xfrm>
            <a:off x="10012680" y="1719072"/>
            <a:ext cx="365760" cy="27432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10012680" y="1993392"/>
            <a:ext cx="1554480" cy="36576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Unsharp ×2</a:t>
            </a:r>
            <a:endParaRPr lang="en-US" sz="1300" dirty="0"/>
          </a:p>
        </p:txBody>
      </p:sp>
      <p:sp>
        <p:nvSpPr>
          <p:cNvPr id="28" name="Text 26"/>
          <p:cNvSpPr txBox="1"/>
          <p:nvPr/>
        </p:nvSpPr>
        <p:spPr>
          <a:xfrm>
            <a:off x="10012680" y="2359152"/>
            <a:ext cx="1554480" cy="41148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σ 0.8, then σ 2.0</a:t>
            </a:r>
            <a:endParaRPr lang="en-US" sz="1100" dirty="0"/>
          </a:p>
        </p:txBody>
      </p:sp>
      <p:pic>
        <p:nvPicPr>
          <p:cNvPr id="29" name="Image 0" descr="crop/grayscale.jpg">    </p:cNvPr>
          <p:cNvPicPr>
            <a:picLocks noChangeAspect="1"/>
          </p:cNvPicPr>
          <p:nvPr/>
        </p:nvPicPr>
        <p:blipFill>
          <a:blip r:embed="rId1"/>
          <a:stretch>
            <a:fillRect/>
          </a:stretch>
        </p:blipFill>
        <p:spPr>
          <a:xfrm>
            <a:off x="548640" y="3017520"/>
            <a:ext cx="5394960" cy="2880360"/>
          </a:xfrm>
          <a:prstGeom prst="rect">
            <a:avLst/>
          </a:prstGeom>
        </p:spPr>
      </p:pic>
      <p:pic>
        <p:nvPicPr>
          <p:cNvPr id="30" name="Image 1" descr="crop/final_hd.jpg">    </p:cNvPr>
          <p:cNvPicPr>
            <a:picLocks noChangeAspect="1"/>
          </p:cNvPicPr>
          <p:nvPr/>
        </p:nvPicPr>
        <p:blipFill>
          <a:blip r:embed="rId2"/>
          <a:stretch>
            <a:fillRect/>
          </a:stretch>
        </p:blipFill>
        <p:spPr>
          <a:xfrm>
            <a:off x="6263640" y="3017520"/>
            <a:ext cx="5394960" cy="2880360"/>
          </a:xfrm>
          <a:prstGeom prst="rect">
            <a:avLst/>
          </a:prstGeom>
        </p:spPr>
      </p:pic>
      <p:sp>
        <p:nvSpPr>
          <p:cNvPr id="31" name="Text 27"/>
          <p:cNvSpPr txBox="1"/>
          <p:nvPr/>
        </p:nvSpPr>
        <p:spPr>
          <a:xfrm>
            <a:off x="548640" y="5943600"/>
            <a:ext cx="53949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Input  </a:t>
            </a:r>
            <a:pPr indent="0" marL="0">
              <a:buNone/>
            </a:pPr>
            <a:r>
              <a:rPr lang="en-US" sz="1200" dirty="0">
                <a:solidFill>
                  <a:srgbClr val="9FB3C8"/>
                </a:solidFill>
                <a:latin typeface="Calibri" pitchFamily="34" charset="0"/>
                <a:ea typeface="Calibri" pitchFamily="34" charset="-122"/>
                <a:cs typeface="Calibri" pitchFamily="34" charset="-120"/>
              </a:rPr>
              <a:t>712 × 1122 px</a:t>
            </a:r>
            <a:endParaRPr lang="en-US" sz="1200" dirty="0"/>
          </a:p>
        </p:txBody>
      </p:sp>
      <p:sp>
        <p:nvSpPr>
          <p:cNvPr id="32" name="Text 28"/>
          <p:cNvSpPr txBox="1"/>
          <p:nvPr/>
        </p:nvSpPr>
        <p:spPr>
          <a:xfrm>
            <a:off x="6263640" y="5943600"/>
            <a:ext cx="53949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Restored  </a:t>
            </a:r>
            <a:pPr indent="0" marL="0">
              <a:buNone/>
            </a:pPr>
            <a:r>
              <a:rPr lang="en-US" sz="1200" dirty="0">
                <a:solidFill>
                  <a:srgbClr val="9FB3C8"/>
                </a:solidFill>
                <a:latin typeface="Calibri" pitchFamily="34" charset="0"/>
                <a:ea typeface="Calibri" pitchFamily="34" charset="-122"/>
                <a:cs typeface="Calibri" pitchFamily="34" charset="-120"/>
              </a:rPr>
              <a:t>1424 × 2244 px, same region</a:t>
            </a:r>
            <a:endParaRPr lang="en-US" sz="12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21792"/>
            <a:ext cx="110642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numbers say, and what they do not</a:t>
            </a:r>
            <a:endParaRPr lang="en-US" sz="3000" dirty="0"/>
          </a:p>
        </p:txBody>
      </p:sp>
      <p:sp>
        <p:nvSpPr>
          <p:cNvPr id="4" name="Text 2"/>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600" i="1" dirty="0">
                <a:solidFill>
                  <a:srgbClr val="06B6D4"/>
                </a:solidFill>
                <a:latin typeface="Calibri" pitchFamily="34" charset="0"/>
                <a:ea typeface="Calibri" pitchFamily="34" charset="-122"/>
                <a:cs typeface="Calibri" pitchFamily="34" charset="-120"/>
              </a:rPr>
              <a:t>Measured by running the app on this test scan</a:t>
            </a:r>
            <a:endParaRPr lang="en-US" sz="1600" dirty="0"/>
          </a:p>
        </p:txBody>
      </p:sp>
      <p:sp>
        <p:nvSpPr>
          <p:cNvPr id="5" name="Shape 3"/>
          <p:cNvSpPr/>
          <p:nvPr/>
        </p:nvSpPr>
        <p:spPr>
          <a:xfrm>
            <a:off x="548640" y="1691640"/>
            <a:ext cx="2651760" cy="1371600"/>
          </a:xfrm>
          <a:prstGeom prst="roundRect">
            <a:avLst>
              <a:gd name="adj" fmla="val 6667"/>
            </a:avLst>
          </a:prstGeom>
          <a:solidFill>
            <a:srgbClr val="121A2B"/>
          </a:solidFill>
          <a:ln w="12700">
            <a:solidFill>
              <a:srgbClr val="06B6D4"/>
            </a:solidFill>
            <a:prstDash val="solid"/>
          </a:ln>
        </p:spPr>
      </p:sp>
      <p:sp>
        <p:nvSpPr>
          <p:cNvPr id="6" name="Text 4"/>
          <p:cNvSpPr txBox="1"/>
          <p:nvPr/>
        </p:nvSpPr>
        <p:spPr>
          <a:xfrm>
            <a:off x="640080" y="1828800"/>
            <a:ext cx="2468880" cy="640080"/>
          </a:xfrm>
          <a:prstGeom prst="rect">
            <a:avLst/>
          </a:prstGeom>
          <a:noFill/>
          <a:ln/>
        </p:spPr>
        <p:txBody>
          <a:bodyPr wrap="square" lIns="0" tIns="0" rIns="0" bIns="0" rtlCol="0" anchor="ctr"/>
          <a:lstStyle/>
          <a:p>
            <a:pPr algn="ctr" indent="0" marL="0">
              <a:buNone/>
            </a:pPr>
            <a:r>
              <a:rPr lang="en-US" sz="3000" b="1" dirty="0">
                <a:solidFill>
                  <a:srgbClr val="F59E0B"/>
                </a:solidFill>
                <a:latin typeface="Cambria" pitchFamily="34" charset="0"/>
                <a:ea typeface="Cambria" pitchFamily="34" charset="-122"/>
                <a:cs typeface="Cambria" pitchFamily="34" charset="-120"/>
              </a:rPr>
              <a:t>20.83 dB</a:t>
            </a:r>
            <a:endParaRPr lang="en-US" sz="3000" dirty="0"/>
          </a:p>
        </p:txBody>
      </p:sp>
      <p:sp>
        <p:nvSpPr>
          <p:cNvPr id="7" name="Text 5"/>
          <p:cNvSpPr txBox="1"/>
          <p:nvPr/>
        </p:nvSpPr>
        <p:spPr>
          <a:xfrm>
            <a:off x="640080" y="2514600"/>
            <a:ext cx="2468880" cy="411480"/>
          </a:xfrm>
          <a:prstGeom prst="rect">
            <a:avLst/>
          </a:prstGeom>
          <a:noFill/>
          <a:ln/>
        </p:spPr>
        <p:txBody>
          <a:bodyPr wrap="square" lIns="0" tIns="0" rIns="0" bIns="0" rtlCol="0" anchor="t"/>
          <a:lstStyle/>
          <a:p>
            <a:pPr algn="ctr" indent="0" marL="0">
              <a:buNone/>
            </a:pPr>
            <a:r>
              <a:rPr lang="en-US" sz="1200" dirty="0">
                <a:solidFill>
                  <a:srgbClr val="9FB3C8"/>
                </a:solidFill>
                <a:latin typeface="Calibri" pitchFamily="34" charset="0"/>
                <a:ea typeface="Calibri" pitchFamily="34" charset="-122"/>
                <a:cs typeface="Calibri" pitchFamily="34" charset="-120"/>
              </a:rPr>
              <a:t>PSNR, output vs input</a:t>
            </a:r>
            <a:endParaRPr lang="en-US" sz="1200" dirty="0"/>
          </a:p>
        </p:txBody>
      </p:sp>
      <p:sp>
        <p:nvSpPr>
          <p:cNvPr id="8" name="Shape 6"/>
          <p:cNvSpPr/>
          <p:nvPr/>
        </p:nvSpPr>
        <p:spPr>
          <a:xfrm>
            <a:off x="3383280" y="1691640"/>
            <a:ext cx="2651760" cy="1371600"/>
          </a:xfrm>
          <a:prstGeom prst="roundRect">
            <a:avLst>
              <a:gd name="adj" fmla="val 6667"/>
            </a:avLst>
          </a:prstGeom>
          <a:solidFill>
            <a:srgbClr val="121A2B"/>
          </a:solidFill>
          <a:ln w="12700">
            <a:solidFill>
              <a:srgbClr val="06B6D4"/>
            </a:solidFill>
            <a:prstDash val="solid"/>
          </a:ln>
        </p:spPr>
      </p:sp>
      <p:sp>
        <p:nvSpPr>
          <p:cNvPr id="9" name="Text 7"/>
          <p:cNvSpPr txBox="1"/>
          <p:nvPr/>
        </p:nvSpPr>
        <p:spPr>
          <a:xfrm>
            <a:off x="3474720" y="1828800"/>
            <a:ext cx="2468880" cy="640080"/>
          </a:xfrm>
          <a:prstGeom prst="rect">
            <a:avLst/>
          </a:prstGeom>
          <a:noFill/>
          <a:ln/>
        </p:spPr>
        <p:txBody>
          <a:bodyPr wrap="square" lIns="0" tIns="0" rIns="0" bIns="0" rtlCol="0" anchor="ctr"/>
          <a:lstStyle/>
          <a:p>
            <a:pPr algn="ctr" indent="0" marL="0">
              <a:buNone/>
            </a:pPr>
            <a:r>
              <a:rPr lang="en-US" sz="3000" b="1" dirty="0">
                <a:solidFill>
                  <a:srgbClr val="F59E0B"/>
                </a:solidFill>
                <a:latin typeface="Cambria" pitchFamily="34" charset="0"/>
                <a:ea typeface="Cambria" pitchFamily="34" charset="-122"/>
                <a:cs typeface="Cambria" pitchFamily="34" charset="-120"/>
              </a:rPr>
              <a:t>1.16×</a:t>
            </a:r>
            <a:endParaRPr lang="en-US" sz="3000" dirty="0"/>
          </a:p>
        </p:txBody>
      </p:sp>
      <p:sp>
        <p:nvSpPr>
          <p:cNvPr id="10" name="Text 8"/>
          <p:cNvSpPr txBox="1"/>
          <p:nvPr/>
        </p:nvSpPr>
        <p:spPr>
          <a:xfrm>
            <a:off x="3474720" y="2514600"/>
            <a:ext cx="2468880" cy="411480"/>
          </a:xfrm>
          <a:prstGeom prst="rect">
            <a:avLst/>
          </a:prstGeom>
          <a:noFill/>
          <a:ln/>
        </p:spPr>
        <p:txBody>
          <a:bodyPr wrap="square" lIns="0" tIns="0" rIns="0" bIns="0" rtlCol="0" anchor="t"/>
          <a:lstStyle/>
          <a:p>
            <a:pPr algn="ctr" indent="0" marL="0">
              <a:buNone/>
            </a:pPr>
            <a:r>
              <a:rPr lang="en-US" sz="1200" dirty="0">
                <a:solidFill>
                  <a:srgbClr val="9FB3C8"/>
                </a:solidFill>
                <a:latin typeface="Calibri" pitchFamily="34" charset="0"/>
                <a:ea typeface="Calibri" pitchFamily="34" charset="-122"/>
                <a:cs typeface="Calibri" pitchFamily="34" charset="-120"/>
              </a:rPr>
              <a:t>CIR = std(out) ÷ std(in)</a:t>
            </a:r>
            <a:endParaRPr lang="en-US" sz="1200" dirty="0"/>
          </a:p>
        </p:txBody>
      </p:sp>
      <p:sp>
        <p:nvSpPr>
          <p:cNvPr id="11" name="Shape 9"/>
          <p:cNvSpPr/>
          <p:nvPr/>
        </p:nvSpPr>
        <p:spPr>
          <a:xfrm>
            <a:off x="6217920" y="1691640"/>
            <a:ext cx="2651760" cy="1371600"/>
          </a:xfrm>
          <a:prstGeom prst="roundRect">
            <a:avLst>
              <a:gd name="adj" fmla="val 6667"/>
            </a:avLst>
          </a:prstGeom>
          <a:solidFill>
            <a:srgbClr val="121A2B"/>
          </a:solidFill>
          <a:ln w="12700">
            <a:solidFill>
              <a:srgbClr val="06B6D4"/>
            </a:solidFill>
            <a:prstDash val="solid"/>
          </a:ln>
        </p:spPr>
      </p:sp>
      <p:sp>
        <p:nvSpPr>
          <p:cNvPr id="12" name="Text 10"/>
          <p:cNvSpPr txBox="1"/>
          <p:nvPr/>
        </p:nvSpPr>
        <p:spPr>
          <a:xfrm>
            <a:off x="6309360" y="1828800"/>
            <a:ext cx="2468880" cy="640080"/>
          </a:xfrm>
          <a:prstGeom prst="rect">
            <a:avLst/>
          </a:prstGeom>
          <a:noFill/>
          <a:ln/>
        </p:spPr>
        <p:txBody>
          <a:bodyPr wrap="square" lIns="0" tIns="0" rIns="0" bIns="0" rtlCol="0" anchor="ctr"/>
          <a:lstStyle/>
          <a:p>
            <a:pPr algn="ctr" indent="0" marL="0">
              <a:buNone/>
            </a:pPr>
            <a:r>
              <a:rPr lang="en-US" sz="3000" b="1" dirty="0">
                <a:solidFill>
                  <a:srgbClr val="F59E0B"/>
                </a:solidFill>
                <a:latin typeface="Cambria" pitchFamily="34" charset="0"/>
                <a:ea typeface="Cambria" pitchFamily="34" charset="-122"/>
                <a:cs typeface="Cambria" pitchFamily="34" charset="-120"/>
              </a:rPr>
              <a:t>1.0 s</a:t>
            </a:r>
            <a:endParaRPr lang="en-US" sz="3000" dirty="0"/>
          </a:p>
        </p:txBody>
      </p:sp>
      <p:sp>
        <p:nvSpPr>
          <p:cNvPr id="13" name="Text 11"/>
          <p:cNvSpPr txBox="1"/>
          <p:nvPr/>
        </p:nvSpPr>
        <p:spPr>
          <a:xfrm>
            <a:off x="6309360" y="2514600"/>
            <a:ext cx="2468880" cy="411480"/>
          </a:xfrm>
          <a:prstGeom prst="rect">
            <a:avLst/>
          </a:prstGeom>
          <a:noFill/>
          <a:ln/>
        </p:spPr>
        <p:txBody>
          <a:bodyPr wrap="square" lIns="0" tIns="0" rIns="0" bIns="0" rtlCol="0" anchor="t"/>
          <a:lstStyle/>
          <a:p>
            <a:pPr algn="ctr" indent="0" marL="0">
              <a:buNone/>
            </a:pPr>
            <a:r>
              <a:rPr lang="en-US" sz="1200" dirty="0">
                <a:solidFill>
                  <a:srgbClr val="9FB3C8"/>
                </a:solidFill>
                <a:latin typeface="Calibri" pitchFamily="34" charset="0"/>
                <a:ea typeface="Calibri" pitchFamily="34" charset="-122"/>
                <a:cs typeface="Calibri" pitchFamily="34" charset="-120"/>
              </a:rPr>
              <a:t>full 44-output run</a:t>
            </a:r>
            <a:endParaRPr lang="en-US" sz="1200" dirty="0"/>
          </a:p>
        </p:txBody>
      </p:sp>
      <p:sp>
        <p:nvSpPr>
          <p:cNvPr id="14" name="Shape 12"/>
          <p:cNvSpPr/>
          <p:nvPr/>
        </p:nvSpPr>
        <p:spPr>
          <a:xfrm>
            <a:off x="9052560" y="1691640"/>
            <a:ext cx="2651760" cy="1371600"/>
          </a:xfrm>
          <a:prstGeom prst="roundRect">
            <a:avLst>
              <a:gd name="adj" fmla="val 6667"/>
            </a:avLst>
          </a:prstGeom>
          <a:solidFill>
            <a:srgbClr val="121A2B"/>
          </a:solidFill>
          <a:ln w="12700">
            <a:solidFill>
              <a:srgbClr val="06B6D4"/>
            </a:solidFill>
            <a:prstDash val="solid"/>
          </a:ln>
        </p:spPr>
      </p:sp>
      <p:sp>
        <p:nvSpPr>
          <p:cNvPr id="15" name="Text 13"/>
          <p:cNvSpPr txBox="1"/>
          <p:nvPr/>
        </p:nvSpPr>
        <p:spPr>
          <a:xfrm>
            <a:off x="9144000" y="1828800"/>
            <a:ext cx="2468880" cy="640080"/>
          </a:xfrm>
          <a:prstGeom prst="rect">
            <a:avLst/>
          </a:prstGeom>
          <a:noFill/>
          <a:ln/>
        </p:spPr>
        <p:txBody>
          <a:bodyPr wrap="square" lIns="0" tIns="0" rIns="0" bIns="0" rtlCol="0" anchor="ctr"/>
          <a:lstStyle/>
          <a:p>
            <a:pPr algn="ctr" indent="0" marL="0">
              <a:buNone/>
            </a:pPr>
            <a:r>
              <a:rPr lang="en-US" sz="2400" b="1" dirty="0">
                <a:solidFill>
                  <a:srgbClr val="F59E0B"/>
                </a:solidFill>
                <a:latin typeface="Cambria" pitchFamily="34" charset="0"/>
                <a:ea typeface="Cambria" pitchFamily="34" charset="-122"/>
                <a:cs typeface="Cambria" pitchFamily="34" charset="-120"/>
              </a:rPr>
              <a:t>1424 × 2244</a:t>
            </a:r>
            <a:endParaRPr lang="en-US" sz="2400" dirty="0"/>
          </a:p>
        </p:txBody>
      </p:sp>
      <p:sp>
        <p:nvSpPr>
          <p:cNvPr id="16" name="Text 14"/>
          <p:cNvSpPr txBox="1"/>
          <p:nvPr/>
        </p:nvSpPr>
        <p:spPr>
          <a:xfrm>
            <a:off x="9144000" y="2514600"/>
            <a:ext cx="2468880" cy="411480"/>
          </a:xfrm>
          <a:prstGeom prst="rect">
            <a:avLst/>
          </a:prstGeom>
          <a:noFill/>
          <a:ln/>
        </p:spPr>
        <p:txBody>
          <a:bodyPr wrap="square" lIns="0" tIns="0" rIns="0" bIns="0" rtlCol="0" anchor="t"/>
          <a:lstStyle/>
          <a:p>
            <a:pPr algn="ctr" indent="0" marL="0">
              <a:buNone/>
            </a:pPr>
            <a:r>
              <a:rPr lang="en-US" sz="1200" dirty="0">
                <a:solidFill>
                  <a:srgbClr val="9FB3C8"/>
                </a:solidFill>
                <a:latin typeface="Calibri" pitchFamily="34" charset="0"/>
                <a:ea typeface="Calibri" pitchFamily="34" charset="-122"/>
                <a:cs typeface="Calibri" pitchFamily="34" charset="-120"/>
              </a:rPr>
              <a:t>output resolution</a:t>
            </a:r>
            <a:endParaRPr lang="en-US" sz="1200" dirty="0"/>
          </a:p>
        </p:txBody>
      </p:sp>
      <p:sp>
        <p:nvSpPr>
          <p:cNvPr id="17" name="Shape 15"/>
          <p:cNvSpPr/>
          <p:nvPr/>
        </p:nvSpPr>
        <p:spPr>
          <a:xfrm>
            <a:off x="548640" y="3337560"/>
            <a:ext cx="5486400" cy="2743200"/>
          </a:xfrm>
          <a:prstGeom prst="roundRect">
            <a:avLst>
              <a:gd name="adj" fmla="val 3333"/>
            </a:avLst>
          </a:prstGeom>
          <a:solidFill>
            <a:srgbClr val="121A2B"/>
          </a:solidFill>
          <a:ln w="12700">
            <a:solidFill>
              <a:srgbClr val="121A2B"/>
            </a:solidFill>
            <a:prstDash val="solid"/>
          </a:ln>
        </p:spPr>
      </p:sp>
      <p:sp>
        <p:nvSpPr>
          <p:cNvPr id="18" name="Text 16"/>
          <p:cNvSpPr txBox="1"/>
          <p:nvPr/>
        </p:nvSpPr>
        <p:spPr>
          <a:xfrm>
            <a:off x="777240" y="3474720"/>
            <a:ext cx="5029200" cy="27432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HOW TO READ THEM</a:t>
            </a:r>
            <a:endParaRPr lang="en-US" sz="1100" dirty="0"/>
          </a:p>
        </p:txBody>
      </p:sp>
      <p:sp>
        <p:nvSpPr>
          <p:cNvPr id="19" name="Text 17"/>
          <p:cNvSpPr txBox="1"/>
          <p:nvPr/>
        </p:nvSpPr>
        <p:spPr>
          <a:xfrm>
            <a:off x="777240" y="3794760"/>
            <a:ext cx="5029200" cy="21945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PSNR here compares the result with the input, since no clean original exists. It shows how much the page changed, not how good it is.</a:t>
            </a:r>
            <a:endParaRPr lang="en-US" sz="1300" dirty="0"/>
          </a:p>
          <a:p>
            <a:pPr marL="177800" indent="-1778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CIR above 1 means more contrast: the pixel spread widened by about 16%.</a:t>
            </a:r>
            <a:endParaRPr lang="en-US" sz="1300" dirty="0"/>
          </a:p>
          <a:p>
            <a:pPr marL="177800" indent="-1778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 true quality test needs a clean reference image with synthetic noise added.</a:t>
            </a:r>
            <a:endParaRPr lang="en-US" sz="1300" dirty="0"/>
          </a:p>
        </p:txBody>
      </p:sp>
      <p:sp>
        <p:nvSpPr>
          <p:cNvPr id="20" name="Shape 18"/>
          <p:cNvSpPr/>
          <p:nvPr/>
        </p:nvSpPr>
        <p:spPr>
          <a:xfrm>
            <a:off x="6217920" y="3337560"/>
            <a:ext cx="5440680" cy="2743200"/>
          </a:xfrm>
          <a:prstGeom prst="roundRect">
            <a:avLst>
              <a:gd name="adj" fmla="val 3333"/>
            </a:avLst>
          </a:prstGeom>
          <a:solidFill>
            <a:srgbClr val="121A2B"/>
          </a:solidFill>
          <a:ln w="12700">
            <a:solidFill>
              <a:srgbClr val="121A2B"/>
            </a:solidFill>
            <a:prstDash val="solid"/>
          </a:ln>
        </p:spPr>
      </p:sp>
      <p:sp>
        <p:nvSpPr>
          <p:cNvPr id="21" name="Text 19"/>
          <p:cNvSpPr txBox="1"/>
          <p:nvPr/>
        </p:nvSpPr>
        <p:spPr>
          <a:xfrm>
            <a:off x="6446520" y="3474720"/>
            <a:ext cx="5029200" cy="27432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LIMITS AND NEXT STEPS</a:t>
            </a:r>
            <a:endParaRPr lang="en-US" sz="1100" dirty="0"/>
          </a:p>
        </p:txBody>
      </p:sp>
      <p:sp>
        <p:nvSpPr>
          <p:cNvPr id="22" name="Text 20"/>
          <p:cNvSpPr txBox="1"/>
          <p:nvPr/>
        </p:nvSpPr>
        <p:spPr>
          <a:xfrm>
            <a:off x="6446520" y="3794760"/>
            <a:ext cx="4983480" cy="21945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Purely algorithmic: it does not read the text (no OCR).</a:t>
            </a:r>
            <a:endParaRPr lang="en-US" sz="1300" dirty="0"/>
          </a:p>
          <a:p>
            <a:pPr marL="177800" indent="-1778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Next: Tesseract OCR to measure the real accuracy gain.</a:t>
            </a:r>
            <a:endParaRPr lang="en-US" sz="1300" dirty="0"/>
          </a:p>
          <a:p>
            <a:pPr marL="177800" indent="-1778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Next: deep-learning dewarping (DocUNet) and a mobile app.</a:t>
            </a:r>
            <a:endParaRPr lang="en-US" sz="1300" dirty="0"/>
          </a:p>
          <a:p>
            <a:pPr indent="0" marL="0">
              <a:spcAft>
                <a:spcPts val="800"/>
              </a:spcAft>
              <a:buNone/>
            </a:pPr>
            <a:r>
              <a:rPr lang="en-US" sz="1300" dirty="0">
                <a:solidFill>
                  <a:srgbClr val="06B6D4"/>
                </a:solidFill>
                <a:latin typeface="Calibri" pitchFamily="34" charset="0"/>
                <a:ea typeface="Calibri" pitchFamily="34" charset="-122"/>
                <a:cs typeface="Calibri" pitchFamily="34" charset="-120"/>
              </a:rPr>
              <a:t>https://github.com/Himanshugarg2401/SmartScan-IVP-Studio</a:t>
            </a:r>
            <a:endParaRPr lang="en-US" sz="1300" dirty="0"/>
          </a:p>
        </p:txBody>
      </p:sp>
      <p:sp>
        <p:nvSpPr>
          <p:cNvPr id="25" name="Slide Number Placeholder 0"/>
          <p:cNvSpPr>
            <a:spLocks noGrp="1"/>
          </p:cNvSpPr>
          <p:nvPr>
            <p:ph type="sldNum" sz="quarter" idx="4294967295"/>
          </p:nvPr>
        </p:nvSpPr>
        <p:spPr>
          <a:xfrm>
            <a:off x="11338560" y="644652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8"/>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SmartScan Studio PRO</dc:title>
  <dc:subject>PptxGenJS Presentation</dc:subject>
  <dc:creator>PptxGenJS</dc:creator>
  <cp:lastModifiedBy>PptxGenJS</cp:lastModifiedBy>
  <cp:revision>1</cp:revision>
  <dcterms:created xsi:type="dcterms:W3CDTF">2026-10-13T03:39:17Z</dcterms:created>
  <dcterms:modified xsi:type="dcterms:W3CDTF">2026-10-13T03:39:17Z</dcterms:modified>
</cp:coreProperties>
</file>